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777472" y="384048"/>
            <a:ext cx="146304" cy="530352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12064"/>
            <a:ext cx="2606040" cy="384048"/>
          </a:xfrm>
          <a:prstGeom prst="roundRect">
            <a:avLst/>
          </a:prstGeom>
          <a:solidFill>
            <a:srgbClr val="F7C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521208"/>
            <a:ext cx="2606040" cy="320040"/>
          </a:xfrm>
          <a:prstGeom prst="rect">
            <a:avLst/>
          </a:prstGeom>
          <a:noFill/>
        </p:spPr>
        <p:txBody>
          <a:bodyPr wrap="square" anchor="ctr" lIns="25400" tIns="0" rIns="25400" bIns="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0D1B2A"/>
                </a:solidFill>
                <a:latin typeface="Aptos"/>
              </a:defRPr>
            </a:pPr>
            <a:r>
              <a:t>Урок для начинающих ИТ-специалистов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051560"/>
            <a:ext cx="5760720" cy="1417320"/>
          </a:xfrm>
          <a:prstGeom prst="rect">
            <a:avLst/>
          </a:prstGeom>
          <a:noFill/>
        </p:spPr>
        <p:txBody>
          <a:bodyPr wrap="square" anchor="t" lIns="101600" tIns="76200" rIns="101600" bIns="7620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2800" b="1">
                <a:solidFill>
                  <a:srgbClr val="F7F4EA"/>
                </a:solidFill>
                <a:latin typeface="Bahnschrift"/>
              </a:defRPr>
            </a:pPr>
            <a:r>
              <a:t>Docker и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2800" b="1">
                <a:solidFill>
                  <a:srgbClr val="F7F4EA"/>
                </a:solidFill>
                <a:latin typeface="Bahnschrift"/>
              </a:defRPr>
            </a:pPr>
            <a:r>
              <a:t>контейнеризация 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2670048"/>
            <a:ext cx="5212080" cy="749808"/>
          </a:xfrm>
          <a:prstGeom prst="rect">
            <a:avLst/>
          </a:prstGeom>
          <a:noFill/>
        </p:spPr>
        <p:txBody>
          <a:bodyPr wrap="square" anchor="t" lIns="101600" tIns="76200" rIns="101600" bIns="7620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400" b="0">
                <a:solidFill>
                  <a:srgbClr val="E9DFC8"/>
                </a:solidFill>
                <a:latin typeface="Aptos"/>
              </a:defRPr>
            </a:pPr>
            <a:r>
              <a:t>Контейнеры, Docker Engine, изоляция и первый Dockerfile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3694176"/>
            <a:ext cx="1097280" cy="38404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3703320"/>
            <a:ext cx="1097280" cy="320040"/>
          </a:xfrm>
          <a:prstGeom prst="rect">
            <a:avLst/>
          </a:prstGeom>
          <a:noFill/>
        </p:spPr>
        <p:txBody>
          <a:bodyPr wrap="square" anchor="ctr" lIns="25400" tIns="0" rIns="25400" bIns="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Теория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01952" y="3694176"/>
            <a:ext cx="1417320" cy="384048"/>
          </a:xfrm>
          <a:prstGeom prst="round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01952" y="3703320"/>
            <a:ext cx="1417320" cy="320040"/>
          </a:xfrm>
          <a:prstGeom prst="rect">
            <a:avLst/>
          </a:prstGeom>
          <a:noFill/>
        </p:spPr>
        <p:txBody>
          <a:bodyPr wrap="square" anchor="ctr" lIns="25400" tIns="0" rIns="25400" bIns="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0D1B2A"/>
                </a:solidFill>
                <a:latin typeface="Aptos"/>
              </a:defRPr>
            </a:pPr>
            <a:r>
              <a:t>Демонстрация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6432" y="3694176"/>
            <a:ext cx="1170432" cy="384048"/>
          </a:xfrm>
          <a:prstGeom prst="roundRect">
            <a:avLst/>
          </a:prstGeom>
          <a:solidFill>
            <a:srgbClr val="F7C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6432" y="3703320"/>
            <a:ext cx="1170432" cy="320040"/>
          </a:xfrm>
          <a:prstGeom prst="rect">
            <a:avLst/>
          </a:prstGeom>
          <a:noFill/>
        </p:spPr>
        <p:txBody>
          <a:bodyPr wrap="square" anchor="ctr" lIns="25400" tIns="0" rIns="25400" bIns="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0D1B2A"/>
                </a:solidFill>
                <a:latin typeface="Aptos"/>
              </a:defRPr>
            </a:pPr>
            <a:r>
              <a:t>Практика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754880"/>
            <a:ext cx="5166360" cy="1051560"/>
          </a:xfrm>
          <a:prstGeom prst="roundRect">
            <a:avLst/>
          </a:prstGeom>
          <a:solidFill>
            <a:srgbClr val="1B263B"/>
          </a:solidFill>
          <a:ln w="15240">
            <a:solidFill>
              <a:srgbClr val="53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956048"/>
            <a:ext cx="1115568" cy="20116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F7C873"/>
                </a:solidFill>
                <a:latin typeface="Aptos"/>
              </a:defRPr>
            </a:pPr>
            <a:r>
              <a:t>Результат урока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5193792"/>
            <a:ext cx="457200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300" b="0">
                <a:solidFill>
                  <a:srgbClr val="F7F4EA"/>
                </a:solidFill>
                <a:latin typeface="Aptos"/>
              </a:defRPr>
            </a:pPr>
            <a:r>
              <a:t>Слушатели понимают, зачем нужна контейнеризация, и умеют собрать первый образ.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0" y="1005840"/>
            <a:ext cx="3291840" cy="621792"/>
          </a:xfrm>
          <a:prstGeom prst="roundRect">
            <a:avLst/>
          </a:prstGeom>
          <a:solidFill>
            <a:srgbClr val="2A9D8F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0" y="1106424"/>
            <a:ext cx="3291840" cy="512064"/>
          </a:xfrm>
          <a:prstGeom prst="rect">
            <a:avLst/>
          </a:prstGeom>
          <a:noFill/>
        </p:spPr>
        <p:txBody>
          <a:bodyPr wrap="square" anchor="ctr" lIns="101600" tIns="76200" rIns="101600" bIns="7620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Исходный код приложения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0" y="1783080"/>
            <a:ext cx="3840480" cy="658368"/>
          </a:xfrm>
          <a:prstGeom prst="roundRect">
            <a:avLst/>
          </a:prstGeom>
          <a:solidFill>
            <a:srgbClr val="536B86"/>
          </a:solidFill>
          <a:ln w="15240">
            <a:solidFill>
              <a:srgbClr val="53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0" y="1883664"/>
            <a:ext cx="3840480" cy="548640"/>
          </a:xfrm>
          <a:prstGeom prst="rect">
            <a:avLst/>
          </a:prstGeom>
          <a:noFill/>
        </p:spPr>
        <p:txBody>
          <a:bodyPr wrap="square" anchor="ctr" lIns="101600" tIns="76200" rIns="101600" bIns="7620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Зависимости и файлы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86600" y="2633472"/>
            <a:ext cx="4297680" cy="749808"/>
          </a:xfrm>
          <a:prstGeom prst="roundRect">
            <a:avLst/>
          </a:prstGeom>
          <a:solidFill>
            <a:srgbClr val="F4A261"/>
          </a:solidFill>
          <a:ln w="15240">
            <a:solidFill>
              <a:srgbClr val="F4A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6600" y="2734056"/>
            <a:ext cx="4297680" cy="640080"/>
          </a:xfrm>
          <a:prstGeom prst="rect">
            <a:avLst/>
          </a:prstGeom>
          <a:noFill/>
        </p:spPr>
        <p:txBody>
          <a:bodyPr wrap="square" anchor="ctr" lIns="101600" tIns="76200" rIns="101600" bIns="7620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Образ: immutable шаблон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12280" y="3611880"/>
            <a:ext cx="4846320" cy="749808"/>
          </a:xfrm>
          <a:prstGeom prst="roundRect">
            <a:avLst/>
          </a:prstGeom>
          <a:solidFill>
            <a:srgbClr val="1B263B"/>
          </a:solidFill>
          <a:ln w="15240">
            <a:solidFill>
              <a:srgbClr val="F7C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12280" y="3712464"/>
            <a:ext cx="4846320" cy="640080"/>
          </a:xfrm>
          <a:prstGeom prst="rect">
            <a:avLst/>
          </a:prstGeom>
          <a:noFill/>
        </p:spPr>
        <p:txBody>
          <a:bodyPr wrap="square" anchor="ctr" lIns="101600" tIns="76200" rIns="101600" bIns="7620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Контейнер: запущенный экземпляр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0" y="4590288"/>
            <a:ext cx="5303520" cy="804672"/>
          </a:xfrm>
          <a:prstGeom prst="roundRect">
            <a:avLst/>
          </a:prstGeom>
          <a:solidFill>
            <a:srgbClr val="0D1B2A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4690872"/>
            <a:ext cx="5303520" cy="694944"/>
          </a:xfrm>
          <a:prstGeom prst="rect">
            <a:avLst/>
          </a:prstGeom>
          <a:noFill/>
        </p:spPr>
        <p:txBody>
          <a:bodyPr wrap="square" anchor="ctr" lIns="101600" tIns="76200" rIns="101600" bIns="7620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Runtime + host 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5596128"/>
            <a:ext cx="3840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100" b="0">
                <a:solidFill>
                  <a:srgbClr val="E9DFC8"/>
                </a:solidFill>
                <a:latin typeface="Aptos"/>
              </a:defRPr>
            </a:pPr>
            <a:r>
              <a:t>Один подход для разработки, теста и продакшна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6419088"/>
            <a:ext cx="10241280" cy="18288"/>
          </a:xfrm>
          <a:prstGeom prst="rect">
            <a:avLst/>
          </a:prstGeom>
          <a:solidFill>
            <a:srgbClr val="E9D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54512" y="6272784"/>
            <a:ext cx="64008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E9DFC8"/>
                </a:solidFill>
                <a:latin typeface="Bahnschrift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41480" y="566928"/>
            <a:ext cx="91440" cy="5074920"/>
          </a:xfrm>
          <a:prstGeom prst="rect">
            <a:avLst/>
          </a:prstGeom>
          <a:solidFill>
            <a:srgbClr val="CFE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438912"/>
            <a:ext cx="2377440" cy="384048"/>
          </a:xfrm>
          <a:prstGeom prst="round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48056"/>
            <a:ext cx="2377440" cy="320040"/>
          </a:xfrm>
          <a:prstGeom prst="rect">
            <a:avLst/>
          </a:prstGeom>
          <a:noFill/>
        </p:spPr>
        <p:txBody>
          <a:bodyPr wrap="square" anchor="ctr" lIns="25400" tIns="0" rIns="25400" bIns="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Диагностика группы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22960"/>
            <a:ext cx="6766560" cy="749808"/>
          </a:xfrm>
          <a:prstGeom prst="rect">
            <a:avLst/>
          </a:prstGeom>
          <a:noFill/>
        </p:spPr>
        <p:txBody>
          <a:bodyPr wrap="square" anchor="t" lIns="101600" tIns="76200" rIns="101600" bIns="7620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2600" b="1">
                <a:solidFill>
                  <a:srgbClr val="0D1B2A"/>
                </a:solidFill>
                <a:latin typeface="Bahnschrift"/>
              </a:defRPr>
            </a:pPr>
            <a:r>
              <a:t>С чего мы стартуем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8412480" cy="502920"/>
          </a:xfrm>
          <a:prstGeom prst="rect">
            <a:avLst/>
          </a:prstGeom>
          <a:noFill/>
        </p:spPr>
        <p:txBody>
          <a:bodyPr wrap="square" anchor="t" lIns="101600" tIns="76200" rIns="101600" bIns="7620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6C7A89"/>
                </a:solidFill>
                <a:latin typeface="Aptos"/>
              </a:defRPr>
            </a:pPr>
            <a:r>
              <a:t>Короткая диагностика помогает понять опыт группы и задать правильный темп на 3-часовое занятие.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6419088"/>
            <a:ext cx="10241280" cy="18288"/>
          </a:xfrm>
          <a:prstGeom prst="rect">
            <a:avLst/>
          </a:prstGeom>
          <a:solidFill>
            <a:srgbClr val="CBD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4512" y="6272784"/>
            <a:ext cx="64008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6C7A89"/>
                </a:solidFill>
                <a:latin typeface="Bahnschrift"/>
              </a:defRPr>
            </a:pPr>
            <a: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507492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4672" y="1947672"/>
            <a:ext cx="146304" cy="1179576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2415" y="1947672"/>
            <a:ext cx="452628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500" b="1">
                <a:solidFill>
                  <a:srgbClr val="0D1B2A"/>
                </a:solidFill>
                <a:latin typeface="Bahnschrift"/>
              </a:defRPr>
            </a:pPr>
            <a:r>
              <a:t>Кто уже слышал про Docker?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5" y="2350008"/>
            <a:ext cx="4581144" cy="813815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Соберите быстрый срез: видел, запускал, использовал на работе или только слышал название.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16752" y="1783080"/>
            <a:ext cx="507492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4A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63056" y="1947672"/>
            <a:ext cx="146304" cy="1179576"/>
          </a:xfrm>
          <a:prstGeom prst="round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47672"/>
            <a:ext cx="452628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500" b="1">
                <a:solidFill>
                  <a:srgbClr val="0D1B2A"/>
                </a:solidFill>
                <a:latin typeface="Bahnschrift"/>
              </a:defRPr>
            </a:pPr>
            <a:r>
              <a:t>Кто уверенно работает в терминале?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350008"/>
            <a:ext cx="4581144" cy="813815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Это поможет понять, насколько подробно показывать команды и сколько давать пауз на повторение.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657600"/>
            <a:ext cx="507492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7C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4672" y="3822191"/>
            <a:ext cx="146304" cy="1179576"/>
          </a:xfrm>
          <a:prstGeom prst="roundRect">
            <a:avLst/>
          </a:prstGeom>
          <a:solidFill>
            <a:srgbClr val="F7C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42415" y="3822191"/>
            <a:ext cx="452628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500" b="1">
                <a:solidFill>
                  <a:srgbClr val="0D1B2A"/>
                </a:solidFill>
                <a:latin typeface="Bahnschrift"/>
              </a:defRPr>
            </a:pPr>
            <a:r>
              <a:t>Кто сталкивался с 'у меня работает'?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5" y="4224528"/>
            <a:ext cx="4581144" cy="813815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Это лучший вход в тему: боль окружений знакома даже тем, кто ещё не трогал Docker.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16752" y="3657600"/>
            <a:ext cx="507492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63056" y="3822191"/>
            <a:ext cx="146304" cy="1179576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822191"/>
            <a:ext cx="452628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500" b="1">
                <a:solidFill>
                  <a:srgbClr val="0D1B2A"/>
                </a:solidFill>
                <a:latin typeface="Bahnschrift"/>
              </a:defRPr>
            </a:pPr>
            <a:r>
              <a:t>Что вы хотите уметь через 3 часа?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224528"/>
            <a:ext cx="4581144" cy="813815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Запустить контейнер, понять image vs container, собрать образ, перестать бояться командной строки.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532120"/>
            <a:ext cx="10844784" cy="566928"/>
          </a:xfrm>
          <a:prstGeom prst="roundRect">
            <a:avLst/>
          </a:prstGeom>
          <a:solidFill>
            <a:srgbClr val="0D1B2A"/>
          </a:solidFill>
          <a:ln w="15240">
            <a:solidFill>
              <a:srgbClr val="0D1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5687568"/>
            <a:ext cx="10287000" cy="1828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100" b="0">
                <a:solidFill>
                  <a:srgbClr val="F7F4EA"/>
                </a:solidFill>
                <a:latin typeface="Aptos"/>
              </a:defRPr>
            </a:pPr>
            <a:r>
              <a:t>Удобно собрать ответы поднятием руки, коротким устным кругом или через чат, если занятие проходит онлайн.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41480" y="566928"/>
            <a:ext cx="91440" cy="5074920"/>
          </a:xfrm>
          <a:prstGeom prst="rect">
            <a:avLst/>
          </a:prstGeom>
          <a:solidFill>
            <a:srgbClr val="CFE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438912"/>
            <a:ext cx="2377440" cy="384048"/>
          </a:xfrm>
          <a:prstGeom prst="round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48056"/>
            <a:ext cx="2377440" cy="320040"/>
          </a:xfrm>
          <a:prstGeom prst="rect">
            <a:avLst/>
          </a:prstGeom>
          <a:noFill/>
        </p:spPr>
        <p:txBody>
          <a:bodyPr wrap="square" anchor="ctr" lIns="25400" tIns="0" rIns="25400" bIns="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План занятия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22960"/>
            <a:ext cx="6766560" cy="749808"/>
          </a:xfrm>
          <a:prstGeom prst="rect">
            <a:avLst/>
          </a:prstGeom>
          <a:noFill/>
        </p:spPr>
        <p:txBody>
          <a:bodyPr wrap="square" anchor="t" lIns="101600" tIns="76200" rIns="101600" bIns="7620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2600" b="1">
                <a:solidFill>
                  <a:srgbClr val="0D1B2A"/>
                </a:solidFill>
                <a:latin typeface="Bahnschrift"/>
              </a:defRPr>
            </a:pPr>
            <a:r>
              <a:t>Маршрут урока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8412480" cy="502920"/>
          </a:xfrm>
          <a:prstGeom prst="rect">
            <a:avLst/>
          </a:prstGeom>
          <a:noFill/>
        </p:spPr>
        <p:txBody>
          <a:bodyPr wrap="square" anchor="t" lIns="101600" tIns="76200" rIns="101600" bIns="7620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6C7A89"/>
                </a:solidFill>
                <a:latin typeface="Aptos"/>
              </a:defRPr>
            </a:pPr>
            <a:r>
              <a:t>Структура занятия на 180 минут: теория, живая демонстрация, практика и мини-кейс.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6419088"/>
            <a:ext cx="10241280" cy="18288"/>
          </a:xfrm>
          <a:prstGeom prst="rect">
            <a:avLst/>
          </a:prstGeom>
          <a:solidFill>
            <a:srgbClr val="CBD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4512" y="6272784"/>
            <a:ext cx="64008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6C7A89"/>
                </a:solidFill>
                <a:latin typeface="Bahnschrift"/>
              </a:defRPr>
            </a:pPr>
            <a:r>
              <a:t>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2926080" cy="15727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59" y="1837944"/>
            <a:ext cx="749808" cy="38404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847088"/>
            <a:ext cx="749808" cy="320040"/>
          </a:xfrm>
          <a:prstGeom prst="rect">
            <a:avLst/>
          </a:prstGeom>
          <a:noFill/>
        </p:spPr>
        <p:txBody>
          <a:bodyPr wrap="square" anchor="ctr" lIns="25400" tIns="0" rIns="25400" bIns="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0D1B2A"/>
                </a:solidFill>
                <a:latin typeface="Aptos"/>
              </a:defRPr>
            </a:pPr>
            <a:r>
              <a:t>0-35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2258568"/>
            <a:ext cx="256032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500" b="1">
                <a:solidFill>
                  <a:srgbClr val="0D1B2A"/>
                </a:solidFill>
                <a:latin typeface="Bahnschrift"/>
              </a:defRPr>
            </a:pPr>
            <a:r>
              <a:t>Старт и мотивация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2606040"/>
            <a:ext cx="2606040" cy="566927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150" b="0">
                <a:solidFill>
                  <a:srgbClr val="102A43"/>
                </a:solidFill>
                <a:latin typeface="Aptos"/>
              </a:defRPr>
            </a:pPr>
            <a:r>
              <a:t>Диагностика группы, проблема окружений и отличие контейнеров от VM.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13632" y="1691640"/>
            <a:ext cx="2926080" cy="15727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078224" y="1837944"/>
            <a:ext cx="749808" cy="38404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78224" y="1847088"/>
            <a:ext cx="749808" cy="320040"/>
          </a:xfrm>
          <a:prstGeom prst="rect">
            <a:avLst/>
          </a:prstGeom>
          <a:noFill/>
        </p:spPr>
        <p:txBody>
          <a:bodyPr wrap="square" anchor="ctr" lIns="25400" tIns="0" rIns="25400" bIns="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0D1B2A"/>
                </a:solidFill>
                <a:latin typeface="Aptos"/>
              </a:defRPr>
            </a:pPr>
            <a:r>
              <a:t>35-55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96512" y="2258568"/>
            <a:ext cx="256032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500" b="1">
                <a:solidFill>
                  <a:srgbClr val="0D1B2A"/>
                </a:solidFill>
                <a:latin typeface="Bahnschrift"/>
              </a:defRPr>
            </a:pPr>
            <a:r>
              <a:t>Термины и архитектура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96512" y="2606040"/>
            <a:ext cx="2606040" cy="566927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150" b="0">
                <a:solidFill>
                  <a:srgbClr val="102A43"/>
                </a:solidFill>
                <a:latin typeface="Aptos"/>
              </a:defRPr>
            </a:pPr>
            <a:r>
              <a:t>Image, container, registry, Engine, daemon и runtime.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68896" y="1691640"/>
            <a:ext cx="2926080" cy="15727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33488" y="1837944"/>
            <a:ext cx="749808" cy="38404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33488" y="1847088"/>
            <a:ext cx="749808" cy="320040"/>
          </a:xfrm>
          <a:prstGeom prst="rect">
            <a:avLst/>
          </a:prstGeom>
          <a:noFill/>
        </p:spPr>
        <p:txBody>
          <a:bodyPr wrap="square" anchor="ctr" lIns="25400" tIns="0" rIns="25400" bIns="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0D1B2A"/>
                </a:solidFill>
                <a:latin typeface="Aptos"/>
              </a:defRPr>
            </a:pPr>
            <a:r>
              <a:t>55-75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51775" y="2258568"/>
            <a:ext cx="256032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500" b="1">
                <a:solidFill>
                  <a:srgbClr val="0D1B2A"/>
                </a:solidFill>
                <a:latin typeface="Bahnschrift"/>
              </a:defRPr>
            </a:pPr>
            <a:r>
              <a:t>Живые демо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51775" y="2606040"/>
            <a:ext cx="2606040" cy="566927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150" b="0">
                <a:solidFill>
                  <a:srgbClr val="102A43"/>
                </a:solidFill>
                <a:latin typeface="Aptos"/>
              </a:defRPr>
            </a:pPr>
            <a:r>
              <a:t>hello-world, nginx, проброс порта, логи и жизненный цикл.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657600"/>
            <a:ext cx="2926080" cy="15727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59" y="3803904"/>
            <a:ext cx="749808" cy="38404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59" y="3813048"/>
            <a:ext cx="749808" cy="320040"/>
          </a:xfrm>
          <a:prstGeom prst="rect">
            <a:avLst/>
          </a:prstGeom>
          <a:noFill/>
        </p:spPr>
        <p:txBody>
          <a:bodyPr wrap="square" anchor="ctr" lIns="25400" tIns="0" rIns="25400" bIns="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0D1B2A"/>
                </a:solidFill>
                <a:latin typeface="Aptos"/>
              </a:defRPr>
            </a:pPr>
            <a:r>
              <a:t>75-105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7" y="4224528"/>
            <a:ext cx="256032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500" b="1">
                <a:solidFill>
                  <a:srgbClr val="0D1B2A"/>
                </a:solidFill>
                <a:latin typeface="Bahnschrift"/>
              </a:defRPr>
            </a:pPr>
            <a:r>
              <a:t>Проверка и изоляция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7" y="4572000"/>
            <a:ext cx="2606040" cy="566927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150" b="0">
                <a:solidFill>
                  <a:srgbClr val="102A43"/>
                </a:solidFill>
                <a:latin typeface="Aptos"/>
              </a:defRPr>
            </a:pPr>
            <a:r>
              <a:t>Контрольная точка, короткая пауза, namespaces и cgroups.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913632" y="3657600"/>
            <a:ext cx="2926080" cy="15727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078224" y="3803904"/>
            <a:ext cx="749808" cy="38404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78224" y="3813048"/>
            <a:ext cx="749808" cy="320040"/>
          </a:xfrm>
          <a:prstGeom prst="rect">
            <a:avLst/>
          </a:prstGeom>
          <a:noFill/>
        </p:spPr>
        <p:txBody>
          <a:bodyPr wrap="square" anchor="ctr" lIns="25400" tIns="0" rIns="25400" bIns="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0D1B2A"/>
                </a:solidFill>
                <a:latin typeface="Aptos"/>
              </a:defRPr>
            </a:pPr>
            <a:r>
              <a:t>105-150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96512" y="4224528"/>
            <a:ext cx="256032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500" b="1">
                <a:solidFill>
                  <a:srgbClr val="0D1B2A"/>
                </a:solidFill>
                <a:latin typeface="Bahnschrift"/>
              </a:defRPr>
            </a:pPr>
            <a:r>
              <a:t>Dockerfile и практика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96512" y="4572000"/>
            <a:ext cx="2606040" cy="566927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150" b="0">
                <a:solidFill>
                  <a:srgbClr val="102A43"/>
                </a:solidFill>
                <a:latin typeface="Aptos"/>
              </a:defRPr>
            </a:pPr>
            <a:r>
              <a:t>Сборка образа, запуск контейнера, изменение HTML и пересборка.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168896" y="3657600"/>
            <a:ext cx="2926080" cy="15727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333488" y="3803904"/>
            <a:ext cx="749808" cy="38404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33488" y="3813048"/>
            <a:ext cx="749808" cy="320040"/>
          </a:xfrm>
          <a:prstGeom prst="rect">
            <a:avLst/>
          </a:prstGeom>
          <a:noFill/>
        </p:spPr>
        <p:txBody>
          <a:bodyPr wrap="square" anchor="ctr" lIns="25400" tIns="0" rIns="25400" bIns="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0D1B2A"/>
                </a:solidFill>
                <a:latin typeface="Aptos"/>
              </a:defRPr>
            </a:pPr>
            <a:r>
              <a:t>150-180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51775" y="4224528"/>
            <a:ext cx="256032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500" b="1">
                <a:solidFill>
                  <a:srgbClr val="0D1B2A"/>
                </a:solidFill>
                <a:latin typeface="Bahnschrift"/>
              </a:defRPr>
            </a:pPr>
            <a:r>
              <a:t>Мини-кейс и финал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51775" y="4572000"/>
            <a:ext cx="2606040" cy="566927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150" b="0">
                <a:solidFill>
                  <a:srgbClr val="102A43"/>
                </a:solidFill>
                <a:latin typeface="Aptos"/>
              </a:defRPr>
            </a:pPr>
            <a:r>
              <a:t>Поиск типичной ошибки, итог, вопросы и домашняя работа.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5577840"/>
            <a:ext cx="9436608" cy="621792"/>
          </a:xfrm>
          <a:prstGeom prst="roundRect">
            <a:avLst/>
          </a:prstGeom>
          <a:solidFill>
            <a:srgbClr val="0D1B2A"/>
          </a:solidFill>
          <a:ln w="15240">
            <a:solidFill>
              <a:srgbClr val="0D1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8680" y="5724144"/>
            <a:ext cx="9052560" cy="237744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200" b="1">
                <a:solidFill>
                  <a:srgbClr val="F7F4EA"/>
                </a:solidFill>
                <a:latin typeface="Aptos"/>
              </a:defRPr>
            </a:pPr>
            <a:r>
              <a:t>К концу занятия слушатель объясняет image vs container, запускает Nginx, собирает свой образ и не пугается типичной ошибки.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777472" y="384048"/>
            <a:ext cx="146304" cy="530352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438912"/>
            <a:ext cx="2377440" cy="384048"/>
          </a:xfrm>
          <a:prstGeom prst="roundRect">
            <a:avLst/>
          </a:prstGeom>
          <a:solidFill>
            <a:srgbClr val="F7C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48056"/>
            <a:ext cx="2377440" cy="320040"/>
          </a:xfrm>
          <a:prstGeom prst="rect">
            <a:avLst/>
          </a:prstGeom>
          <a:noFill/>
        </p:spPr>
        <p:txBody>
          <a:bodyPr wrap="square" anchor="ctr" lIns="25400" tIns="0" rIns="25400" bIns="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0D1B2A"/>
                </a:solidFill>
                <a:latin typeface="Aptos"/>
              </a:defRPr>
            </a:pPr>
            <a:r>
              <a:t>Контекст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22960"/>
            <a:ext cx="6766560" cy="749808"/>
          </a:xfrm>
          <a:prstGeom prst="rect">
            <a:avLst/>
          </a:prstGeom>
          <a:noFill/>
        </p:spPr>
        <p:txBody>
          <a:bodyPr wrap="square" anchor="t" lIns="101600" tIns="76200" rIns="101600" bIns="7620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2600" b="1">
                <a:solidFill>
                  <a:srgbClr val="F7F4EA"/>
                </a:solidFill>
                <a:latin typeface="Bahnschrift"/>
              </a:defRPr>
            </a:pPr>
            <a:r>
              <a:t>Почему появилась контейнеризация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8412480" cy="502920"/>
          </a:xfrm>
          <a:prstGeom prst="rect">
            <a:avLst/>
          </a:prstGeom>
          <a:noFill/>
        </p:spPr>
        <p:txBody>
          <a:bodyPr wrap="square" anchor="t" lIns="101600" tIns="76200" rIns="101600" bIns="7620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E9DFC8"/>
                </a:solidFill>
                <a:latin typeface="Aptos"/>
              </a:defRPr>
            </a:pPr>
            <a:r>
              <a:t>Проблема чаще всего не в коде, а в различиях окружения и зависимостей.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6419088"/>
            <a:ext cx="10241280" cy="18288"/>
          </a:xfrm>
          <a:prstGeom prst="rect">
            <a:avLst/>
          </a:prstGeom>
          <a:solidFill>
            <a:srgbClr val="E9D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4512" y="6272784"/>
            <a:ext cx="64008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E9DFC8"/>
                </a:solidFill>
                <a:latin typeface="Bahnschrift"/>
              </a:defRPr>
            </a:pPr>
            <a:r>
              <a:t>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493776"/>
            <a:ext cx="3154680" cy="384048"/>
          </a:xfrm>
          <a:prstGeom prst="round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79" y="502920"/>
            <a:ext cx="3154680" cy="320040"/>
          </a:xfrm>
          <a:prstGeom prst="rect">
            <a:avLst/>
          </a:prstGeom>
          <a:noFill/>
        </p:spPr>
        <p:txBody>
          <a:bodyPr wrap="square" anchor="ctr" lIns="25400" tIns="0" rIns="25400" bIns="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0D1B2A"/>
                </a:solidFill>
                <a:latin typeface="Aptos"/>
              </a:defRPr>
            </a:pPr>
            <a:r>
              <a:t>Вопрос аудитории: где вы это уже видели?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828800"/>
            <a:ext cx="3566160" cy="2468880"/>
          </a:xfrm>
          <a:prstGeom prst="roundRect">
            <a:avLst/>
          </a:prstGeom>
          <a:solidFill>
            <a:srgbClr val="F7F4EA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2" y="1993392"/>
            <a:ext cx="146304" cy="2139696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2415" y="1993392"/>
            <a:ext cx="301752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500" b="1">
                <a:solidFill>
                  <a:srgbClr val="0D1B2A"/>
                </a:solidFill>
                <a:latin typeface="Bahnschrift"/>
              </a:defRPr>
            </a:pPr>
            <a:r>
              <a:t>«У меня работает»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5" y="2395728"/>
            <a:ext cx="3072384" cy="1773936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Разные версии ОС, интерпретатора, переменных окружения и библиотек делают запуск непредсказуемым.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1828800"/>
            <a:ext cx="3566160" cy="2468880"/>
          </a:xfrm>
          <a:prstGeom prst="roundRect">
            <a:avLst/>
          </a:prstGeom>
          <a:solidFill>
            <a:srgbClr val="F7F4EA"/>
          </a:solidFill>
          <a:ln w="15240">
            <a:solidFill>
              <a:srgbClr val="F4A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43984" y="1993392"/>
            <a:ext cx="146304" cy="2139696"/>
          </a:xfrm>
          <a:prstGeom prst="round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81728" y="1993392"/>
            <a:ext cx="301752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500" b="1">
                <a:solidFill>
                  <a:srgbClr val="0D1B2A"/>
                </a:solidFill>
                <a:latin typeface="Bahnschrift"/>
              </a:defRPr>
            </a:pPr>
            <a:r>
              <a:t>Зависимости конфликтуют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1728" y="2395728"/>
            <a:ext cx="3072384" cy="1773936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Одному проекту нужна одна версия пакета, другому - другая. Ручная настройка быстро становится хрупкой.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36992" y="1828800"/>
            <a:ext cx="3566160" cy="2468880"/>
          </a:xfrm>
          <a:prstGeom prst="roundRect">
            <a:avLst/>
          </a:prstGeom>
          <a:solidFill>
            <a:srgbClr val="F7F4EA"/>
          </a:solidFill>
          <a:ln w="15240">
            <a:solidFill>
              <a:srgbClr val="F7C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83296" y="1993392"/>
            <a:ext cx="146304" cy="2139696"/>
          </a:xfrm>
          <a:prstGeom prst="roundRect">
            <a:avLst/>
          </a:prstGeom>
          <a:solidFill>
            <a:srgbClr val="F7C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1993392"/>
            <a:ext cx="301752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500" b="1">
                <a:solidFill>
                  <a:srgbClr val="0D1B2A"/>
                </a:solidFill>
                <a:latin typeface="Bahnschrift"/>
              </a:defRPr>
            </a:pPr>
            <a:r>
              <a:t>Релиз трудно повторить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395728"/>
            <a:ext cx="3072384" cy="1773936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Тест, staging и production расходятся по конфигурации, и баги проявляются уже после выкладки.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983480"/>
            <a:ext cx="10844784" cy="868680"/>
          </a:xfrm>
          <a:prstGeom prst="roundRect">
            <a:avLst/>
          </a:prstGeom>
          <a:solidFill>
            <a:srgbClr val="1B263B"/>
          </a:solidFill>
          <a:ln w="15240">
            <a:solidFill>
              <a:srgbClr val="53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5230368"/>
            <a:ext cx="10287000" cy="256032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400" b="1">
                <a:solidFill>
                  <a:srgbClr val="F7F4EA"/>
                </a:solidFill>
                <a:latin typeface="Aptos"/>
              </a:defRPr>
            </a:pPr>
            <a:r>
              <a:t>Контейнер = стандартный способ упаковать приложение и его окружение так, чтобы запуск повторялся одинаково.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41480" y="566928"/>
            <a:ext cx="91440" cy="5074920"/>
          </a:xfrm>
          <a:prstGeom prst="rect">
            <a:avLst/>
          </a:prstGeom>
          <a:solidFill>
            <a:srgbClr val="CFE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438912"/>
            <a:ext cx="2377440" cy="384048"/>
          </a:xfrm>
          <a:prstGeom prst="round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48056"/>
            <a:ext cx="2377440" cy="320040"/>
          </a:xfrm>
          <a:prstGeom prst="rect">
            <a:avLst/>
          </a:prstGeom>
          <a:noFill/>
        </p:spPr>
        <p:txBody>
          <a:bodyPr wrap="square" anchor="ctr" lIns="25400" tIns="0" rIns="25400" bIns="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Сравнение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22960"/>
            <a:ext cx="6766560" cy="749808"/>
          </a:xfrm>
          <a:prstGeom prst="rect">
            <a:avLst/>
          </a:prstGeom>
          <a:noFill/>
        </p:spPr>
        <p:txBody>
          <a:bodyPr wrap="square" anchor="t" lIns="101600" tIns="76200" rIns="101600" bIns="7620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2600" b="1">
                <a:solidFill>
                  <a:srgbClr val="0D1B2A"/>
                </a:solidFill>
                <a:latin typeface="Bahnschrift"/>
              </a:defRPr>
            </a:pPr>
            <a:r>
              <a:t>Контейнеры и виртуальные машины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8412480" cy="502920"/>
          </a:xfrm>
          <a:prstGeom prst="rect">
            <a:avLst/>
          </a:prstGeom>
          <a:noFill/>
        </p:spPr>
        <p:txBody>
          <a:bodyPr wrap="square" anchor="t" lIns="101600" tIns="76200" rIns="101600" bIns="7620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6C7A89"/>
                </a:solidFill>
                <a:latin typeface="Aptos"/>
              </a:defRPr>
            </a:pPr>
            <a:r>
              <a:t>Похожая цель, но разный уровень изоляции, скорости запуска и потребления ресурсов.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6419088"/>
            <a:ext cx="10241280" cy="18288"/>
          </a:xfrm>
          <a:prstGeom prst="rect">
            <a:avLst/>
          </a:prstGeom>
          <a:solidFill>
            <a:srgbClr val="CBD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4512" y="6272784"/>
            <a:ext cx="64008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6C7A89"/>
                </a:solidFill>
                <a:latin typeface="Bahnschrift"/>
              </a:defRPr>
            </a:pPr>
            <a:r>
              <a:t>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938528"/>
            <a:ext cx="5394960" cy="38679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36208" y="1938528"/>
            <a:ext cx="5257800" cy="38679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4A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121408"/>
            <a:ext cx="237744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700" b="1">
                <a:solidFill>
                  <a:srgbClr val="0D1B2A"/>
                </a:solidFill>
                <a:latin typeface="Bahnschrift"/>
              </a:defRPr>
            </a:pPr>
            <a:r>
              <a:t>Контейнеры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2121408"/>
            <a:ext cx="320040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700" b="1">
                <a:solidFill>
                  <a:srgbClr val="0D1B2A"/>
                </a:solidFill>
                <a:latin typeface="Bahnschrift"/>
              </a:defRPr>
            </a:pPr>
            <a:r>
              <a:t>Виртуальные машины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78992" y="2615184"/>
            <a:ext cx="1051560" cy="420624"/>
          </a:xfrm>
          <a:prstGeom prst="roundRect">
            <a:avLst/>
          </a:prstGeom>
          <a:solidFill>
            <a:srgbClr val="2A9D8F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267712" y="2615184"/>
            <a:ext cx="1051560" cy="420624"/>
          </a:xfrm>
          <a:prstGeom prst="roundRect">
            <a:avLst/>
          </a:prstGeom>
          <a:solidFill>
            <a:srgbClr val="2A9D8F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456432" y="2615184"/>
            <a:ext cx="1051560" cy="420624"/>
          </a:xfrm>
          <a:prstGeom prst="roundRect">
            <a:avLst/>
          </a:prstGeom>
          <a:solidFill>
            <a:srgbClr val="2A9D8F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2715768"/>
            <a:ext cx="1051560" cy="146304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67712" y="2715768"/>
            <a:ext cx="1051560" cy="146304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56432" y="2715768"/>
            <a:ext cx="1051560" cy="146304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3200400"/>
            <a:ext cx="3931920" cy="384048"/>
          </a:xfrm>
          <a:prstGeom prst="rect">
            <a:avLst/>
          </a:prstGeom>
          <a:solidFill>
            <a:srgbClr val="D9E7F3"/>
          </a:solidFill>
          <a:ln w="15240">
            <a:solidFill>
              <a:srgbClr val="CB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273552"/>
            <a:ext cx="3931920" cy="146304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0D1B2A"/>
                </a:solidFill>
                <a:latin typeface="Aptos"/>
              </a:defRPr>
            </a:pPr>
            <a:r>
              <a:t>Host OS / Linux kernel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3858768"/>
            <a:ext cx="4709160" cy="1463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300" b="0">
                <a:solidFill>
                  <a:srgbClr val="102A43"/>
                </a:solidFill>
                <a:latin typeface="Aptos"/>
              </a:defRPr>
            </a:pPr>
            <a:r>
              <a:t>• Делят ядро хостовой ОС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300" b="0">
                <a:solidFill>
                  <a:srgbClr val="102A43"/>
                </a:solidFill>
                <a:latin typeface="Aptos"/>
              </a:defRPr>
            </a:pPr>
            <a:r>
              <a:t>• Запускаются быстро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300" b="0">
                <a:solidFill>
                  <a:srgbClr val="102A43"/>
                </a:solidFill>
                <a:latin typeface="Aptos"/>
              </a:defRPr>
            </a:pPr>
            <a:r>
              <a:t>• Обычно легче по ресурсам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300" b="0">
                <a:solidFill>
                  <a:srgbClr val="102A43"/>
                </a:solidFill>
                <a:latin typeface="Aptos"/>
              </a:defRPr>
            </a:pPr>
            <a:r>
              <a:t>• Удобны для CI/CD, dev и доставки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20840" y="2523744"/>
            <a:ext cx="1371600" cy="822960"/>
          </a:xfrm>
          <a:prstGeom prst="roundRect">
            <a:avLst/>
          </a:prstGeom>
          <a:solidFill>
            <a:srgbClr val="F4A261"/>
          </a:solidFill>
          <a:ln w="15240">
            <a:solidFill>
              <a:srgbClr val="F4A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75320" y="2523744"/>
            <a:ext cx="1371600" cy="822960"/>
          </a:xfrm>
          <a:prstGeom prst="roundRect">
            <a:avLst/>
          </a:prstGeom>
          <a:solidFill>
            <a:srgbClr val="F4A261"/>
          </a:solidFill>
          <a:ln w="15240">
            <a:solidFill>
              <a:srgbClr val="F4A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48856" y="2670048"/>
            <a:ext cx="1097280" cy="20116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800" b="1">
                <a:solidFill>
                  <a:srgbClr val="0D1B2A"/>
                </a:solidFill>
                <a:latin typeface="Aptos"/>
              </a:defRPr>
            </a:pPr>
            <a:r>
              <a:t>VM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03336" y="2670048"/>
            <a:ext cx="1097280" cy="20116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800" b="1">
                <a:solidFill>
                  <a:srgbClr val="0D1B2A"/>
                </a:solidFill>
                <a:latin typeface="Aptos"/>
              </a:defRPr>
            </a:pPr>
            <a:r>
              <a:t>VM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48856" y="2907792"/>
            <a:ext cx="1097280" cy="146304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900" b="0">
                <a:solidFill>
                  <a:srgbClr val="0D1B2A"/>
                </a:solidFill>
                <a:latin typeface="Aptos"/>
              </a:defRPr>
            </a:pPr>
            <a:r>
              <a:t>Guest 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03336" y="2907792"/>
            <a:ext cx="1097280" cy="146304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900" b="0">
                <a:solidFill>
                  <a:srgbClr val="0D1B2A"/>
                </a:solidFill>
                <a:latin typeface="Aptos"/>
              </a:defRPr>
            </a:pPr>
            <a:r>
              <a:t>Guest OS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37960" y="3310128"/>
            <a:ext cx="3749039" cy="365760"/>
          </a:xfrm>
          <a:prstGeom prst="rect">
            <a:avLst/>
          </a:prstGeom>
          <a:solidFill>
            <a:srgbClr val="E9DFC8"/>
          </a:solidFill>
          <a:ln w="15240">
            <a:solidFill>
              <a:srgbClr val="CB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3374136"/>
            <a:ext cx="3749039" cy="146304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0D1B2A"/>
                </a:solidFill>
                <a:latin typeface="Aptos"/>
              </a:defRPr>
            </a:pPr>
            <a:r>
              <a:t>Hypervisor / virtualization layer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37376" y="3858768"/>
            <a:ext cx="4572000" cy="1463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300" b="0">
                <a:solidFill>
                  <a:srgbClr val="102A43"/>
                </a:solidFill>
                <a:latin typeface="Aptos"/>
              </a:defRPr>
            </a:pPr>
            <a:r>
              <a:t>• У каждой VM свой guest OS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300" b="0">
                <a:solidFill>
                  <a:srgbClr val="102A43"/>
                </a:solidFill>
                <a:latin typeface="Aptos"/>
              </a:defRPr>
            </a:pPr>
            <a:r>
              <a:t>• Старт обычно медленнее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300" b="0">
                <a:solidFill>
                  <a:srgbClr val="102A43"/>
                </a:solidFill>
                <a:latin typeface="Aptos"/>
              </a:defRPr>
            </a:pPr>
            <a:r>
              <a:t>• Потребляют больше ресурсов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300" b="0">
                <a:solidFill>
                  <a:srgbClr val="102A43"/>
                </a:solidFill>
                <a:latin typeface="Aptos"/>
              </a:defRPr>
            </a:pPr>
            <a:r>
              <a:t>• Изоляция сильнее, но цена выше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" y="5870448"/>
            <a:ext cx="10287000" cy="164592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50" b="1">
                <a:solidFill>
                  <a:srgbClr val="6C7A89"/>
                </a:solidFill>
                <a:latin typeface="Aptos"/>
              </a:defRPr>
            </a:pPr>
            <a:r>
              <a:t>Важно: на Windows и macOS Linux-контейнеры в Docker Desktop работают внутри Linux VM.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777472" y="384048"/>
            <a:ext cx="146304" cy="530352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438912"/>
            <a:ext cx="2377440" cy="384048"/>
          </a:xfrm>
          <a:prstGeom prst="roundRect">
            <a:avLst/>
          </a:prstGeom>
          <a:solidFill>
            <a:srgbClr val="F7C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48056"/>
            <a:ext cx="2377440" cy="320040"/>
          </a:xfrm>
          <a:prstGeom prst="rect">
            <a:avLst/>
          </a:prstGeom>
          <a:noFill/>
        </p:spPr>
        <p:txBody>
          <a:bodyPr wrap="square" anchor="ctr" lIns="25400" tIns="0" rIns="25400" bIns="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0D1B2A"/>
                </a:solidFill>
                <a:latin typeface="Aptos"/>
              </a:defRPr>
            </a:pPr>
            <a:r>
              <a:t>Термины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22960"/>
            <a:ext cx="6766560" cy="749808"/>
          </a:xfrm>
          <a:prstGeom prst="rect">
            <a:avLst/>
          </a:prstGeom>
          <a:noFill/>
        </p:spPr>
        <p:txBody>
          <a:bodyPr wrap="square" anchor="t" lIns="101600" tIns="76200" rIns="101600" bIns="7620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2600" b="1">
                <a:solidFill>
                  <a:srgbClr val="F7F4EA"/>
                </a:solidFill>
                <a:latin typeface="Bahnschrift"/>
              </a:defRPr>
            </a:pPr>
            <a:r>
              <a:t>Ключевые сущности Docker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8412480" cy="502920"/>
          </a:xfrm>
          <a:prstGeom prst="rect">
            <a:avLst/>
          </a:prstGeom>
          <a:noFill/>
        </p:spPr>
        <p:txBody>
          <a:bodyPr wrap="square" anchor="t" lIns="101600" tIns="76200" rIns="101600" bIns="7620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E9DFC8"/>
                </a:solidFill>
                <a:latin typeface="Aptos"/>
              </a:defRPr>
            </a:pPr>
            <a:r>
              <a:t>Четыре базовых понятия, без которых дальше будет трудно читать команды и понимать практику.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6419088"/>
            <a:ext cx="10241280" cy="18288"/>
          </a:xfrm>
          <a:prstGeom prst="rect">
            <a:avLst/>
          </a:prstGeom>
          <a:solidFill>
            <a:srgbClr val="E9D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4512" y="6272784"/>
            <a:ext cx="64008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E9DFC8"/>
                </a:solidFill>
                <a:latin typeface="Bahnschrift"/>
              </a:defRPr>
            </a:pPr>
            <a:r>
              <a:t>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5074920" cy="1691640"/>
          </a:xfrm>
          <a:prstGeom prst="roundRect">
            <a:avLst/>
          </a:prstGeom>
          <a:solidFill>
            <a:srgbClr val="F7F4EA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4672" y="1947672"/>
            <a:ext cx="146304" cy="1362456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2415" y="1947672"/>
            <a:ext cx="452628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500" b="1">
                <a:solidFill>
                  <a:srgbClr val="0D1B2A"/>
                </a:solidFill>
                <a:latin typeface="Bahnschrift"/>
              </a:defRPr>
            </a:pPr>
            <a:r>
              <a:t>Image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5" y="2350008"/>
            <a:ext cx="4581144" cy="996696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Шаблон с файловой системой и метаданными. Из одного образа можно запускать много контейнеров.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Команды: docker pull, docker build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16752" y="1783080"/>
            <a:ext cx="5074920" cy="1691640"/>
          </a:xfrm>
          <a:prstGeom prst="roundRect">
            <a:avLst/>
          </a:prstGeom>
          <a:solidFill>
            <a:srgbClr val="F7F4EA"/>
          </a:solidFill>
          <a:ln w="15240">
            <a:solidFill>
              <a:srgbClr val="F4A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63056" y="1947672"/>
            <a:ext cx="146304" cy="1362456"/>
          </a:xfrm>
          <a:prstGeom prst="round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47672"/>
            <a:ext cx="452628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500" b="1">
                <a:solidFill>
                  <a:srgbClr val="0D1B2A"/>
                </a:solidFill>
                <a:latin typeface="Bahnschrift"/>
              </a:defRPr>
            </a:pPr>
            <a:r>
              <a:t>Container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350008"/>
            <a:ext cx="4581144" cy="996696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Запущенный экземпляр образа. У него есть свой процесс и верхний writable layer.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Команда: docker run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703320"/>
            <a:ext cx="5074920" cy="1691640"/>
          </a:xfrm>
          <a:prstGeom prst="roundRect">
            <a:avLst/>
          </a:prstGeom>
          <a:solidFill>
            <a:srgbClr val="F7F4EA"/>
          </a:solidFill>
          <a:ln w="15240">
            <a:solidFill>
              <a:srgbClr val="F7C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4672" y="3867911"/>
            <a:ext cx="146304" cy="1362456"/>
          </a:xfrm>
          <a:prstGeom prst="roundRect">
            <a:avLst/>
          </a:prstGeom>
          <a:solidFill>
            <a:srgbClr val="F7C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42415" y="3867911"/>
            <a:ext cx="452628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500" b="1">
                <a:solidFill>
                  <a:srgbClr val="0D1B2A"/>
                </a:solidFill>
                <a:latin typeface="Bahnschrift"/>
              </a:defRPr>
            </a:pPr>
            <a:r>
              <a:t>Registry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5" y="4270248"/>
            <a:ext cx="4581144" cy="996696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Удалённое хранилище образов: Docker Hub или private registry. Отсюда образы скачиваются и сюда публикуются.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16752" y="3703320"/>
            <a:ext cx="5074920" cy="1691640"/>
          </a:xfrm>
          <a:prstGeom prst="roundRect">
            <a:avLst/>
          </a:prstGeom>
          <a:solidFill>
            <a:srgbClr val="F7F4EA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63056" y="3867911"/>
            <a:ext cx="146304" cy="1362456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867911"/>
            <a:ext cx="452628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500" b="1">
                <a:solidFill>
                  <a:srgbClr val="0D1B2A"/>
                </a:solidFill>
                <a:latin typeface="Bahnschrift"/>
              </a:defRPr>
            </a:pPr>
            <a:r>
              <a:t>Dockerfile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270248"/>
            <a:ext cx="4581144" cy="996696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Текстовое описание сборки образа. В нём задаются база, копирование файлов и команды сборки.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760720"/>
            <a:ext cx="10844784" cy="365760"/>
          </a:xfrm>
          <a:prstGeom prst="roundRect">
            <a:avLst/>
          </a:prstGeom>
          <a:solidFill>
            <a:srgbClr val="1B263B"/>
          </a:solidFill>
          <a:ln w="15240">
            <a:solidFill>
              <a:srgbClr val="53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824728"/>
            <a:ext cx="10469880" cy="164592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100" b="0">
                <a:solidFill>
                  <a:srgbClr val="E9DFC8"/>
                </a:solidFill>
                <a:latin typeface="Aptos"/>
              </a:defRPr>
            </a:pPr>
            <a:r>
              <a:t>CLI отдаёт команду -&gt; Engine управляет объектами -&gt; runtime запускает контейнер -&gt; registry хранит образы.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41480" y="566928"/>
            <a:ext cx="91440" cy="5074920"/>
          </a:xfrm>
          <a:prstGeom prst="rect">
            <a:avLst/>
          </a:prstGeom>
          <a:solidFill>
            <a:srgbClr val="CFE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438912"/>
            <a:ext cx="2377440" cy="384048"/>
          </a:xfrm>
          <a:prstGeom prst="round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48056"/>
            <a:ext cx="2377440" cy="320040"/>
          </a:xfrm>
          <a:prstGeom prst="rect">
            <a:avLst/>
          </a:prstGeom>
          <a:noFill/>
        </p:spPr>
        <p:txBody>
          <a:bodyPr wrap="square" anchor="ctr" lIns="25400" tIns="0" rIns="25400" bIns="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Схема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22960"/>
            <a:ext cx="6766560" cy="749808"/>
          </a:xfrm>
          <a:prstGeom prst="rect">
            <a:avLst/>
          </a:prstGeom>
          <a:noFill/>
        </p:spPr>
        <p:txBody>
          <a:bodyPr wrap="square" anchor="t" lIns="101600" tIns="76200" rIns="101600" bIns="7620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2600" b="1">
                <a:solidFill>
                  <a:srgbClr val="0D1B2A"/>
                </a:solidFill>
                <a:latin typeface="Bahnschrift"/>
              </a:defRPr>
            </a:pPr>
            <a:r>
              <a:t>Архитектура Docker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8412480" cy="502920"/>
          </a:xfrm>
          <a:prstGeom prst="rect">
            <a:avLst/>
          </a:prstGeom>
          <a:noFill/>
        </p:spPr>
        <p:txBody>
          <a:bodyPr wrap="square" anchor="t" lIns="101600" tIns="76200" rIns="101600" bIns="7620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6C7A89"/>
                </a:solidFill>
                <a:latin typeface="Aptos"/>
              </a:defRPr>
            </a:pPr>
            <a:r>
              <a:t>Полезно объяснять цепочку как путь команды от терминала до запущенного процесса.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6419088"/>
            <a:ext cx="10241280" cy="18288"/>
          </a:xfrm>
          <a:prstGeom prst="rect">
            <a:avLst/>
          </a:prstGeom>
          <a:solidFill>
            <a:srgbClr val="CBD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4512" y="6272784"/>
            <a:ext cx="64008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6C7A89"/>
                </a:solidFill>
                <a:latin typeface="Bahnschrift"/>
              </a:defRPr>
            </a:pPr>
            <a:r>
              <a:t>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331720"/>
            <a:ext cx="1645920" cy="1051560"/>
          </a:xfrm>
          <a:prstGeom prst="roundRect">
            <a:avLst/>
          </a:prstGeom>
          <a:solidFill>
            <a:srgbClr val="0D1B2A"/>
          </a:solidFill>
          <a:ln w="15240">
            <a:solidFill>
              <a:srgbClr val="0D1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606040"/>
            <a:ext cx="164592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600" b="1">
                <a:solidFill>
                  <a:srgbClr val="F7F4EA"/>
                </a:solidFill>
                <a:latin typeface="Bahnschrift"/>
              </a:defRPr>
            </a:pPr>
            <a:r>
              <a:t>Docker CLI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33472" y="2615184"/>
            <a:ext cx="384048" cy="411480"/>
          </a:xfrm>
          <a:prstGeom prst="roundRect">
            <a:avLst/>
          </a:prstGeom>
          <a:solidFill>
            <a:srgbClr val="F4A261"/>
          </a:solidFill>
          <a:ln w="15240">
            <a:solidFill>
              <a:srgbClr val="F4A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60904" y="2670048"/>
            <a:ext cx="320040" cy="1828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800" b="1">
                <a:solidFill>
                  <a:srgbClr val="0D1B2A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18688" y="1965960"/>
            <a:ext cx="242316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9856" y="2212848"/>
            <a:ext cx="201168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700" b="1">
                <a:solidFill>
                  <a:srgbClr val="0D1B2A"/>
                </a:solidFill>
                <a:latin typeface="Bahnschrift"/>
              </a:defRPr>
            </a:pPr>
            <a:r>
              <a:t>Docker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19856" y="2633472"/>
            <a:ext cx="18288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dockerd слушает API-запросы и управляет image, container, network, volume.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97880" y="2615184"/>
            <a:ext cx="384048" cy="411480"/>
          </a:xfrm>
          <a:prstGeom prst="roundRect">
            <a:avLst/>
          </a:prstGeom>
          <a:solidFill>
            <a:srgbClr val="F4A261"/>
          </a:solidFill>
          <a:ln w="15240">
            <a:solidFill>
              <a:srgbClr val="F4A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25312" y="2670048"/>
            <a:ext cx="320040" cy="1828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800" b="1">
                <a:solidFill>
                  <a:srgbClr val="0D1B2A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2176272"/>
            <a:ext cx="1325880" cy="731520"/>
          </a:xfrm>
          <a:prstGeom prst="roundRect">
            <a:avLst/>
          </a:prstGeom>
          <a:solidFill>
            <a:srgbClr val="EEF3F7"/>
          </a:solidFill>
          <a:ln w="15240">
            <a:solidFill>
              <a:srgbClr val="CB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377440"/>
            <a:ext cx="1325880" cy="164592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300" b="1">
                <a:solidFill>
                  <a:srgbClr val="0D1B2A"/>
                </a:solidFill>
                <a:latin typeface="Bahnschrift"/>
              </a:defRPr>
            </a:pPr>
            <a:r>
              <a:t>containerd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28431" y="2176272"/>
            <a:ext cx="960120" cy="731520"/>
          </a:xfrm>
          <a:prstGeom prst="roundRect">
            <a:avLst/>
          </a:prstGeom>
          <a:solidFill>
            <a:srgbClr val="EEF3F7"/>
          </a:solidFill>
          <a:ln w="15240">
            <a:solidFill>
              <a:srgbClr val="CB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28431" y="2377440"/>
            <a:ext cx="960120" cy="164592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300" b="1">
                <a:solidFill>
                  <a:srgbClr val="0D1B2A"/>
                </a:solidFill>
                <a:latin typeface="Bahnschrift"/>
              </a:defRPr>
            </a:pPr>
            <a:r>
              <a:t>runc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81160" y="2011680"/>
            <a:ext cx="1828800" cy="1051560"/>
          </a:xfrm>
          <a:prstGeom prst="roundRect">
            <a:avLst/>
          </a:prstGeom>
          <a:solidFill>
            <a:srgbClr val="2A9D8F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81160" y="2258568"/>
            <a:ext cx="18288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600" b="1">
                <a:solidFill>
                  <a:srgbClr val="FFFFFF"/>
                </a:solidFill>
                <a:latin typeface="Bahnschrift"/>
              </a:defRPr>
            </a:pPr>
            <a:r>
              <a:t>Container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65392" y="1097280"/>
            <a:ext cx="192024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4A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732520" y="1097280"/>
            <a:ext cx="205740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65392" y="1298448"/>
            <a:ext cx="1920240" cy="164592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300" b="1">
                <a:solidFill>
                  <a:srgbClr val="0D1B2A"/>
                </a:solidFill>
                <a:latin typeface="Bahnschrift"/>
              </a:defRPr>
            </a:pPr>
            <a:r>
              <a:t>Registry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32520" y="1298448"/>
            <a:ext cx="2057400" cy="164592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300" b="1">
                <a:solidFill>
                  <a:srgbClr val="0D1B2A"/>
                </a:solidFill>
                <a:latin typeface="Bahnschrift"/>
              </a:defRPr>
            </a:pPr>
            <a:r>
              <a:t>Local images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66560" y="4389120"/>
            <a:ext cx="4343400" cy="987552"/>
          </a:xfrm>
          <a:prstGeom prst="roundRect">
            <a:avLst/>
          </a:prstGeom>
          <a:solidFill>
            <a:srgbClr val="0D1B2A"/>
          </a:solidFill>
          <a:ln w="15240">
            <a:solidFill>
              <a:srgbClr val="0D1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22592" y="4617720"/>
            <a:ext cx="3840480" cy="457200"/>
          </a:xfrm>
          <a:prstGeom prst="rect">
            <a:avLst/>
          </a:prstGeom>
          <a:noFill/>
        </p:spPr>
        <p:txBody>
          <a:bodyPr wrap="square" anchor="t" lIns="101600" tIns="76200" rIns="101600" bIns="7620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F7F4EA"/>
                </a:solidFill>
                <a:latin typeface="Aptos"/>
              </a:defRPr>
            </a:pPr>
            <a:r>
              <a:t>Runtime создаёт изолированный процесс, используя namespaces и cgroups.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9808" y="4572000"/>
            <a:ext cx="534924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" y="4791456"/>
            <a:ext cx="4937760" cy="384048"/>
          </a:xfrm>
          <a:prstGeom prst="rect">
            <a:avLst/>
          </a:prstGeom>
          <a:noFill/>
        </p:spPr>
        <p:txBody>
          <a:bodyPr wrap="square" anchor="t" lIns="101600" tIns="76200" rIns="101600" bIns="7620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200" b="1">
                <a:solidFill>
                  <a:srgbClr val="0D1B2A"/>
                </a:solidFill>
                <a:latin typeface="Aptos"/>
              </a:defRPr>
            </a:pPr>
            <a:r>
              <a:t>Проговорите цепочку вслух: команда в CLI -&gt; daemon -&gt; image/runtime -&gt; контейнер.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777472" y="384048"/>
            <a:ext cx="146304" cy="530352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438912"/>
            <a:ext cx="2377440" cy="384048"/>
          </a:xfrm>
          <a:prstGeom prst="roundRect">
            <a:avLst/>
          </a:prstGeom>
          <a:solidFill>
            <a:srgbClr val="F7C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48056"/>
            <a:ext cx="2377440" cy="320040"/>
          </a:xfrm>
          <a:prstGeom prst="rect">
            <a:avLst/>
          </a:prstGeom>
          <a:noFill/>
        </p:spPr>
        <p:txBody>
          <a:bodyPr wrap="square" anchor="ctr" lIns="25400" tIns="0" rIns="25400" bIns="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0D1B2A"/>
                </a:solidFill>
                <a:latin typeface="Aptos"/>
              </a:defRPr>
            </a:pPr>
            <a:r>
              <a:t>Роли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22960"/>
            <a:ext cx="6766560" cy="749808"/>
          </a:xfrm>
          <a:prstGeom prst="rect">
            <a:avLst/>
          </a:prstGeom>
          <a:noFill/>
        </p:spPr>
        <p:txBody>
          <a:bodyPr wrap="square" anchor="t" lIns="101600" tIns="76200" rIns="101600" bIns="7620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2600" b="1">
                <a:solidFill>
                  <a:srgbClr val="F7F4EA"/>
                </a:solidFill>
                <a:latin typeface="Bahnschrift"/>
              </a:defRPr>
            </a:pPr>
            <a:r>
              <a:t>Engine и runtime: кто за что отвечает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8412480" cy="502920"/>
          </a:xfrm>
          <a:prstGeom prst="rect">
            <a:avLst/>
          </a:prstGeom>
          <a:noFill/>
        </p:spPr>
        <p:txBody>
          <a:bodyPr wrap="square" anchor="t" lIns="101600" tIns="76200" rIns="101600" bIns="7620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E9DFC8"/>
                </a:solidFill>
                <a:latin typeface="Aptos"/>
              </a:defRPr>
            </a:pPr>
            <a:r>
              <a:t>На первом уроке достаточно разделить управление жизненным циклом и непосредственный запуск контейнера.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6419088"/>
            <a:ext cx="10241280" cy="18288"/>
          </a:xfrm>
          <a:prstGeom prst="rect">
            <a:avLst/>
          </a:prstGeom>
          <a:solidFill>
            <a:srgbClr val="E9D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4512" y="6272784"/>
            <a:ext cx="64008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E9DFC8"/>
                </a:solidFill>
                <a:latin typeface="Bahnschrift"/>
              </a:defRPr>
            </a:pPr>
            <a:r>
              <a:t>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1737360"/>
            <a:ext cx="3108960" cy="548640"/>
          </a:xfrm>
          <a:prstGeom prst="roundRect">
            <a:avLst/>
          </a:prstGeom>
          <a:solidFill>
            <a:srgbClr val="F7C873"/>
          </a:solidFill>
          <a:ln w="15240">
            <a:solidFill>
              <a:srgbClr val="F7C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1837943"/>
            <a:ext cx="3108960" cy="438912"/>
          </a:xfrm>
          <a:prstGeom prst="rect">
            <a:avLst/>
          </a:prstGeom>
          <a:noFill/>
        </p:spPr>
        <p:txBody>
          <a:bodyPr wrap="square" anchor="ctr" lIns="101600" tIns="76200" rIns="101600" bIns="7620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docker run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2468880"/>
            <a:ext cx="3108960" cy="548640"/>
          </a:xfrm>
          <a:prstGeom prst="roundRect">
            <a:avLst/>
          </a:prstGeom>
          <a:solidFill>
            <a:srgbClr val="F4A261"/>
          </a:solidFill>
          <a:ln w="15240">
            <a:solidFill>
              <a:srgbClr val="F4A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2569464"/>
            <a:ext cx="3108960" cy="438912"/>
          </a:xfrm>
          <a:prstGeom prst="rect">
            <a:avLst/>
          </a:prstGeom>
          <a:noFill/>
        </p:spPr>
        <p:txBody>
          <a:bodyPr wrap="square" anchor="ctr" lIns="101600" tIns="76200" rIns="101600" bIns="7620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dockerd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" y="3200400"/>
            <a:ext cx="3108960" cy="548640"/>
          </a:xfrm>
          <a:prstGeom prst="roundRect">
            <a:avLst/>
          </a:prstGeom>
          <a:solidFill>
            <a:srgbClr val="536B86"/>
          </a:solidFill>
          <a:ln w="15240">
            <a:solidFill>
              <a:srgbClr val="53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3300984"/>
            <a:ext cx="3108960" cy="438912"/>
          </a:xfrm>
          <a:prstGeom prst="rect">
            <a:avLst/>
          </a:prstGeom>
          <a:noFill/>
        </p:spPr>
        <p:txBody>
          <a:bodyPr wrap="square" anchor="ctr" lIns="101600" tIns="76200" rIns="101600" bIns="7620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containerd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3931920"/>
            <a:ext cx="3108960" cy="548640"/>
          </a:xfrm>
          <a:prstGeom prst="roundRect">
            <a:avLst/>
          </a:prstGeom>
          <a:solidFill>
            <a:srgbClr val="2A9D8F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4032504"/>
            <a:ext cx="3108960" cy="438912"/>
          </a:xfrm>
          <a:prstGeom prst="rect">
            <a:avLst/>
          </a:prstGeom>
          <a:noFill/>
        </p:spPr>
        <p:txBody>
          <a:bodyPr wrap="square" anchor="ctr" lIns="101600" tIns="76200" rIns="101600" bIns="7620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runc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4663440"/>
            <a:ext cx="3108960" cy="548640"/>
          </a:xfrm>
          <a:prstGeom prst="roundRect">
            <a:avLst/>
          </a:prstGeom>
          <a:solidFill>
            <a:srgbClr val="1B263B"/>
          </a:solidFill>
          <a:ln w="15240">
            <a:solidFill>
              <a:srgbClr val="1B26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4764024"/>
            <a:ext cx="3108960" cy="438912"/>
          </a:xfrm>
          <a:prstGeom prst="rect">
            <a:avLst/>
          </a:prstGeom>
          <a:noFill/>
        </p:spPr>
        <p:txBody>
          <a:bodyPr wrap="square" anchor="ctr" lIns="101600" tIns="76200" rIns="101600" bIns="7620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process in container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1783080"/>
            <a:ext cx="6812280" cy="1234440"/>
          </a:xfrm>
          <a:prstGeom prst="roundRect">
            <a:avLst/>
          </a:prstGeom>
          <a:solidFill>
            <a:srgbClr val="F7F4EA"/>
          </a:solidFill>
          <a:ln w="15240">
            <a:solidFill>
              <a:srgbClr val="F7C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718304" y="1947672"/>
            <a:ext cx="146304" cy="905256"/>
          </a:xfrm>
          <a:prstGeom prst="roundRect">
            <a:avLst/>
          </a:prstGeom>
          <a:solidFill>
            <a:srgbClr val="F7C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56048" y="1947672"/>
            <a:ext cx="626364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500" b="1">
                <a:solidFill>
                  <a:srgbClr val="0D1B2A"/>
                </a:solidFill>
                <a:latin typeface="Bahnschrift"/>
              </a:defRPr>
            </a:pPr>
            <a:r>
              <a:t>Container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56048" y="2350008"/>
            <a:ext cx="6318504" cy="539496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Docker Engine управляет образами, контейнерами, сетями, томами и принимает команды через CLI/API.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0" y="3182112"/>
            <a:ext cx="6812280" cy="1234440"/>
          </a:xfrm>
          <a:prstGeom prst="roundRect">
            <a:avLst/>
          </a:prstGeom>
          <a:solidFill>
            <a:srgbClr val="F7F4EA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718304" y="3346704"/>
            <a:ext cx="146304" cy="905256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56048" y="3346704"/>
            <a:ext cx="626364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500" b="1">
                <a:solidFill>
                  <a:srgbClr val="0D1B2A"/>
                </a:solidFill>
                <a:latin typeface="Bahnschrift"/>
              </a:defRPr>
            </a:pPr>
            <a:r>
              <a:t>Container runtime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56048" y="3749039"/>
            <a:ext cx="6318504" cy="539496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Runtime запускает контейнер как изолированный процесс. В типичной схеме Docker использует containerd и runc.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0" y="4645152"/>
            <a:ext cx="6812280" cy="1060704"/>
          </a:xfrm>
          <a:prstGeom prst="roundRect">
            <a:avLst/>
          </a:prstGeom>
          <a:solidFill>
            <a:srgbClr val="1B263B"/>
          </a:solidFill>
          <a:ln w="15240">
            <a:solidFill>
              <a:srgbClr val="53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09744" y="4864608"/>
            <a:ext cx="6355080" cy="475488"/>
          </a:xfrm>
          <a:prstGeom prst="rect">
            <a:avLst/>
          </a:prstGeom>
          <a:noFill/>
        </p:spPr>
        <p:txBody>
          <a:bodyPr wrap="square" anchor="t" lIns="101600" tIns="76200" rIns="101600" bIns="7620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300" b="1">
                <a:solidFill>
                  <a:srgbClr val="F7F4EA"/>
                </a:solidFill>
                <a:latin typeface="Aptos"/>
              </a:defRPr>
            </a:pPr>
            <a:r>
              <a:t>Короткая формула для группы: engine управляет, runtime запускает. Этого достаточно для первого занятия.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41480" y="566928"/>
            <a:ext cx="91440" cy="5074920"/>
          </a:xfrm>
          <a:prstGeom prst="rect">
            <a:avLst/>
          </a:prstGeom>
          <a:solidFill>
            <a:srgbClr val="CFE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438912"/>
            <a:ext cx="2377440" cy="384048"/>
          </a:xfrm>
          <a:prstGeom prst="round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48056"/>
            <a:ext cx="2377440" cy="320040"/>
          </a:xfrm>
          <a:prstGeom prst="rect">
            <a:avLst/>
          </a:prstGeom>
          <a:noFill/>
        </p:spPr>
        <p:txBody>
          <a:bodyPr wrap="square" anchor="ctr" lIns="25400" tIns="0" rIns="25400" bIns="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Linux основы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22960"/>
            <a:ext cx="6766560" cy="749808"/>
          </a:xfrm>
          <a:prstGeom prst="rect">
            <a:avLst/>
          </a:prstGeom>
          <a:noFill/>
        </p:spPr>
        <p:txBody>
          <a:bodyPr wrap="square" anchor="t" lIns="101600" tIns="76200" rIns="101600" bIns="7620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2600" b="1">
                <a:solidFill>
                  <a:srgbClr val="0D1B2A"/>
                </a:solidFill>
                <a:latin typeface="Bahnschrift"/>
              </a:defRPr>
            </a:pPr>
            <a:r>
              <a:t>Изоляция через namespaces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8412480" cy="502920"/>
          </a:xfrm>
          <a:prstGeom prst="rect">
            <a:avLst/>
          </a:prstGeom>
          <a:noFill/>
        </p:spPr>
        <p:txBody>
          <a:bodyPr wrap="square" anchor="t" lIns="101600" tIns="76200" rIns="101600" bIns="7620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6C7A89"/>
                </a:solidFill>
                <a:latin typeface="Aptos"/>
              </a:defRPr>
            </a:pPr>
            <a:r>
              <a:t>Полезная метафора: контейнеру показывают отдельный мир процессов, сети и файловой системы.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6419088"/>
            <a:ext cx="10241280" cy="18288"/>
          </a:xfrm>
          <a:prstGeom prst="rect">
            <a:avLst/>
          </a:prstGeom>
          <a:solidFill>
            <a:srgbClr val="CBD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4512" y="6272784"/>
            <a:ext cx="64008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6C7A89"/>
                </a:solidFill>
                <a:latin typeface="Bahnschrift"/>
              </a:defRPr>
            </a:pPr>
            <a:r>
              <a:t>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10844784" cy="640080"/>
          </a:xfrm>
          <a:prstGeom prst="roundRect">
            <a:avLst/>
          </a:prstGeom>
          <a:solidFill>
            <a:srgbClr val="0D1B2A"/>
          </a:solidFill>
          <a:ln w="15240">
            <a:solidFill>
              <a:srgbClr val="0D1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901952"/>
            <a:ext cx="10332720" cy="20116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300" b="1">
                <a:solidFill>
                  <a:srgbClr val="F7F4EA"/>
                </a:solidFill>
                <a:latin typeface="Aptos"/>
              </a:defRPr>
            </a:pPr>
            <a:r>
              <a:t>namespaces отвечают на вопрос: что контейнер видит как своё окружение.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606040"/>
            <a:ext cx="292608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59" y="2770632"/>
            <a:ext cx="530352" cy="38404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2779776"/>
            <a:ext cx="530352" cy="320040"/>
          </a:xfrm>
          <a:prstGeom prst="rect">
            <a:avLst/>
          </a:prstGeom>
          <a:noFill/>
        </p:spPr>
        <p:txBody>
          <a:bodyPr wrap="square" anchor="ctr" lIns="25400" tIns="0" rIns="25400" bIns="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PID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834640"/>
            <a:ext cx="1874519" cy="74980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Своя таблица процессов.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Контейнер не видит весь host.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13632" y="2606040"/>
            <a:ext cx="292608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078224" y="2770632"/>
            <a:ext cx="530352" cy="38404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78224" y="2779776"/>
            <a:ext cx="530352" cy="320040"/>
          </a:xfrm>
          <a:prstGeom prst="rect">
            <a:avLst/>
          </a:prstGeom>
          <a:noFill/>
        </p:spPr>
        <p:txBody>
          <a:bodyPr wrap="square" anchor="ctr" lIns="25400" tIns="0" rIns="25400" bIns="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NET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36592" y="2834640"/>
            <a:ext cx="1874519" cy="74980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Свои интерфейсы, IP,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маршруты и порты.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68896" y="2606040"/>
            <a:ext cx="292608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33488" y="2770632"/>
            <a:ext cx="530352" cy="38404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33488" y="2779776"/>
            <a:ext cx="530352" cy="320040"/>
          </a:xfrm>
          <a:prstGeom prst="rect">
            <a:avLst/>
          </a:prstGeom>
          <a:noFill/>
        </p:spPr>
        <p:txBody>
          <a:bodyPr wrap="square" anchor="ctr" lIns="25400" tIns="0" rIns="25400" bIns="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MNT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91856" y="2834640"/>
            <a:ext cx="1874519" cy="74980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Своя точка зрения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на файловую систему.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160520"/>
            <a:ext cx="292608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2959" y="4325112"/>
            <a:ext cx="530352" cy="38404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59" y="4334255"/>
            <a:ext cx="530352" cy="320040"/>
          </a:xfrm>
          <a:prstGeom prst="rect">
            <a:avLst/>
          </a:prstGeom>
          <a:noFill/>
        </p:spPr>
        <p:txBody>
          <a:bodyPr wrap="square" anchor="ctr" lIns="25400" tIns="0" rIns="25400" bIns="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IPC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81328" y="4389120"/>
            <a:ext cx="1874519" cy="74980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Изоляция shared memory,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semaphores и message queues.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913632" y="4160520"/>
            <a:ext cx="292608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078224" y="4325112"/>
            <a:ext cx="530352" cy="38404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078224" y="4334255"/>
            <a:ext cx="530352" cy="320040"/>
          </a:xfrm>
          <a:prstGeom prst="rect">
            <a:avLst/>
          </a:prstGeom>
          <a:noFill/>
        </p:spPr>
        <p:txBody>
          <a:bodyPr wrap="square" anchor="ctr" lIns="25400" tIns="0" rIns="25400" bIns="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UTS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36592" y="4389120"/>
            <a:ext cx="1874519" cy="74980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Свой hostname и domain name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внутри контейнера.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168896" y="4160520"/>
            <a:ext cx="292608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333488" y="4325112"/>
            <a:ext cx="530352" cy="38404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33488" y="4334255"/>
            <a:ext cx="530352" cy="320040"/>
          </a:xfrm>
          <a:prstGeom prst="rect">
            <a:avLst/>
          </a:prstGeom>
          <a:noFill/>
        </p:spPr>
        <p:txBody>
          <a:bodyPr wrap="square" anchor="ctr" lIns="25400" tIns="0" rIns="25400" bIns="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USER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91856" y="4389120"/>
            <a:ext cx="1874519" cy="74980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Отдельное отображение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UID/GID для безопасности.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742432"/>
            <a:ext cx="10844784" cy="365760"/>
          </a:xfrm>
          <a:prstGeom prst="roundRect">
            <a:avLst/>
          </a:prstGeom>
          <a:solidFill>
            <a:srgbClr val="F4A261"/>
          </a:solidFill>
          <a:ln w="15240">
            <a:solidFill>
              <a:srgbClr val="F4A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6112" y="5815584"/>
            <a:ext cx="10287000" cy="146304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100" b="1">
                <a:solidFill>
                  <a:srgbClr val="0D1B2A"/>
                </a:solidFill>
                <a:latin typeface="Aptos"/>
              </a:defRPr>
            </a:pPr>
            <a:r>
              <a:t>Контейнер изолирует процесс, а не эмулирует целый компьютер.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777472" y="384048"/>
            <a:ext cx="146304" cy="530352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438912"/>
            <a:ext cx="2377440" cy="384048"/>
          </a:xfrm>
          <a:prstGeom prst="roundRect">
            <a:avLst/>
          </a:prstGeom>
          <a:solidFill>
            <a:srgbClr val="F7C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48056"/>
            <a:ext cx="2377440" cy="320040"/>
          </a:xfrm>
          <a:prstGeom prst="rect">
            <a:avLst/>
          </a:prstGeom>
          <a:noFill/>
        </p:spPr>
        <p:txBody>
          <a:bodyPr wrap="square" anchor="ctr" lIns="25400" tIns="0" rIns="25400" bIns="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0D1B2A"/>
                </a:solidFill>
                <a:latin typeface="Aptos"/>
              </a:defRPr>
            </a:pPr>
            <a:r>
              <a:t>Ресурсы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22960"/>
            <a:ext cx="6766560" cy="749808"/>
          </a:xfrm>
          <a:prstGeom prst="rect">
            <a:avLst/>
          </a:prstGeom>
          <a:noFill/>
        </p:spPr>
        <p:txBody>
          <a:bodyPr wrap="square" anchor="t" lIns="101600" tIns="76200" rIns="101600" bIns="7620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2600" b="1">
                <a:solidFill>
                  <a:srgbClr val="F7F4EA"/>
                </a:solidFill>
                <a:latin typeface="Bahnschrift"/>
              </a:defRPr>
            </a:pPr>
            <a:r>
              <a:t>Контроль ресурсов через cgroups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8412480" cy="502920"/>
          </a:xfrm>
          <a:prstGeom prst="rect">
            <a:avLst/>
          </a:prstGeom>
          <a:noFill/>
        </p:spPr>
        <p:txBody>
          <a:bodyPr wrap="square" anchor="t" lIns="101600" tIns="76200" rIns="101600" bIns="7620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E9DFC8"/>
                </a:solidFill>
                <a:latin typeface="Aptos"/>
              </a:defRPr>
            </a:pPr>
            <a:r>
              <a:t>Если namespaces отвечают за изоляцию, то cgroups отвечают за ограничения и учёт ресурсов.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6419088"/>
            <a:ext cx="10241280" cy="18288"/>
          </a:xfrm>
          <a:prstGeom prst="rect">
            <a:avLst/>
          </a:prstGeom>
          <a:solidFill>
            <a:srgbClr val="E9D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4512" y="6272784"/>
            <a:ext cx="64008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E9DFC8"/>
                </a:solidFill>
                <a:latin typeface="Bahnschrift"/>
              </a:defRPr>
            </a:pPr>
            <a: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37360"/>
            <a:ext cx="3840480" cy="3063240"/>
          </a:xfrm>
          <a:prstGeom prst="roundRect">
            <a:avLst/>
          </a:prstGeom>
          <a:solidFill>
            <a:srgbClr val="F7F4EA"/>
          </a:solidFill>
          <a:ln w="15240">
            <a:solidFill>
              <a:srgbClr val="F7C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029968"/>
            <a:ext cx="3291840" cy="1417320"/>
          </a:xfrm>
          <a:prstGeom prst="rect">
            <a:avLst/>
          </a:prstGeom>
          <a:noFill/>
        </p:spPr>
        <p:txBody>
          <a:bodyPr wrap="square" anchor="ctr" lIns="101600" tIns="76200" rIns="101600" bIns="7620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2000" b="1">
                <a:solidFill>
                  <a:srgbClr val="0D1B2A"/>
                </a:solidFill>
                <a:latin typeface="Bahnschrift"/>
              </a:defRPr>
            </a:pPr>
            <a:r>
              <a:t>cgroups отвечают на вопрос: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  <a:defRPr sz="2000" b="1">
                <a:solidFill>
                  <a:srgbClr val="0D1B2A"/>
                </a:solidFill>
                <a:latin typeface="Bahnschrift"/>
              </a:defRPr>
            </a:pPr>
            <a:r>
              <a:t>сколько CPU, памяти и процессов контейнер может использовать.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5074920"/>
            <a:ext cx="3840480" cy="777240"/>
          </a:xfrm>
          <a:prstGeom prst="roundRect">
            <a:avLst/>
          </a:prstGeom>
          <a:solidFill>
            <a:srgbClr val="1B263B"/>
          </a:solidFill>
          <a:ln w="15240">
            <a:solidFill>
              <a:srgbClr val="53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5294376"/>
            <a:ext cx="3383280" cy="256032"/>
          </a:xfrm>
          <a:prstGeom prst="rect">
            <a:avLst/>
          </a:prstGeom>
          <a:noFill/>
        </p:spPr>
        <p:txBody>
          <a:bodyPr wrap="square" anchor="t" lIns="101600" tIns="76200" rIns="101600" bIns="7620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200" b="1">
                <a:solidFill>
                  <a:srgbClr val="F7F4EA"/>
                </a:solidFill>
                <a:latin typeface="Aptos"/>
              </a:defRPr>
            </a:pPr>
            <a:r>
              <a:t>Без ограничений один контейнер может мешать другим.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0" y="1783080"/>
            <a:ext cx="6172200" cy="987552"/>
          </a:xfrm>
          <a:prstGeom prst="roundRect">
            <a:avLst/>
          </a:prstGeom>
          <a:solidFill>
            <a:srgbClr val="F7F4EA"/>
          </a:solidFill>
          <a:ln w="15240">
            <a:solidFill>
              <a:srgbClr val="F7C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266944" y="1947672"/>
            <a:ext cx="146304" cy="658368"/>
          </a:xfrm>
          <a:prstGeom prst="roundRect">
            <a:avLst/>
          </a:prstGeom>
          <a:solidFill>
            <a:srgbClr val="F7C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04688" y="1947672"/>
            <a:ext cx="562356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500" b="1">
                <a:solidFill>
                  <a:srgbClr val="0D1B2A"/>
                </a:solidFill>
                <a:latin typeface="Bahnschrift"/>
              </a:defRPr>
            </a:pPr>
            <a:r>
              <a:t>CPU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04688" y="2350008"/>
            <a:ext cx="5678424" cy="29260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Ограничение доли процессора.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Полезно для фоновых задач.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20640" y="2971800"/>
            <a:ext cx="6172200" cy="987552"/>
          </a:xfrm>
          <a:prstGeom prst="roundRect">
            <a:avLst/>
          </a:prstGeom>
          <a:solidFill>
            <a:srgbClr val="F7F4EA"/>
          </a:solidFill>
          <a:ln w="15240">
            <a:solidFill>
              <a:srgbClr val="F4A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266944" y="3136392"/>
            <a:ext cx="146304" cy="658368"/>
          </a:xfrm>
          <a:prstGeom prst="round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04688" y="3136392"/>
            <a:ext cx="562356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500" b="1">
                <a:solidFill>
                  <a:srgbClr val="0D1B2A"/>
                </a:solidFill>
                <a:latin typeface="Bahnschrift"/>
              </a:defRPr>
            </a:pPr>
            <a:r>
              <a:t>Memory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04688" y="3538728"/>
            <a:ext cx="5678424" cy="29260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Жёсткий предел памяти.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Защищает host от overuse.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20640" y="4160520"/>
            <a:ext cx="6172200" cy="987552"/>
          </a:xfrm>
          <a:prstGeom prst="roundRect">
            <a:avLst/>
          </a:prstGeom>
          <a:solidFill>
            <a:srgbClr val="F7F4EA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266944" y="4325112"/>
            <a:ext cx="146304" cy="65836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04688" y="4325112"/>
            <a:ext cx="562356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500" b="1">
                <a:solidFill>
                  <a:srgbClr val="0D1B2A"/>
                </a:solidFill>
                <a:latin typeface="Bahnschrift"/>
              </a:defRPr>
            </a:pPr>
            <a:r>
              <a:t>PIDs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04688" y="4727448"/>
            <a:ext cx="5678424" cy="29260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Ограничение числа процессов.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Снижает риск fork bomb.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20640" y="5321808"/>
            <a:ext cx="6172200" cy="749808"/>
          </a:xfrm>
          <a:prstGeom prst="roundRect">
            <a:avLst/>
          </a:prstGeom>
          <a:solidFill>
            <a:srgbClr val="1B263B"/>
          </a:solidFill>
          <a:ln w="15240">
            <a:solidFill>
              <a:srgbClr val="53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1" y="5468112"/>
            <a:ext cx="5843016" cy="475488"/>
          </a:xfrm>
          <a:prstGeom prst="rect">
            <a:avLst/>
          </a:prstGeom>
          <a:noFill/>
        </p:spPr>
        <p:txBody>
          <a:bodyPr wrap="square" anchor="t" lIns="50800" tIns="50800" rIns="50800" bIns="5080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  <a:defRPr sz="1300" b="0">
                <a:solidFill>
                  <a:srgbClr val="F7F4EA"/>
                </a:solidFill>
                <a:latin typeface="Consolas"/>
              </a:defRPr>
            </a:pPr>
            <a:r>
              <a:t>docker run --cpus=1 --memory=256m --pids-limit=100 app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41480" y="566928"/>
            <a:ext cx="91440" cy="5074920"/>
          </a:xfrm>
          <a:prstGeom prst="rect">
            <a:avLst/>
          </a:prstGeom>
          <a:solidFill>
            <a:srgbClr val="CFE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438912"/>
            <a:ext cx="2377440" cy="384048"/>
          </a:xfrm>
          <a:prstGeom prst="round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48056"/>
            <a:ext cx="2377440" cy="320040"/>
          </a:xfrm>
          <a:prstGeom prst="rect">
            <a:avLst/>
          </a:prstGeom>
          <a:noFill/>
        </p:spPr>
        <p:txBody>
          <a:bodyPr wrap="square" anchor="ctr" lIns="25400" tIns="0" rIns="25400" bIns="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Сборка образа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22960"/>
            <a:ext cx="6766560" cy="749808"/>
          </a:xfrm>
          <a:prstGeom prst="rect">
            <a:avLst/>
          </a:prstGeom>
          <a:noFill/>
        </p:spPr>
        <p:txBody>
          <a:bodyPr wrap="square" anchor="t" lIns="101600" tIns="76200" rIns="101600" bIns="7620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2600" b="1">
                <a:solidFill>
                  <a:srgbClr val="0D1B2A"/>
                </a:solidFill>
                <a:latin typeface="Bahnschrift"/>
              </a:defRPr>
            </a:pPr>
            <a:r>
              <a:t>Dockerfile: описание образа шаг за шагом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8412480" cy="502920"/>
          </a:xfrm>
          <a:prstGeom prst="rect">
            <a:avLst/>
          </a:prstGeom>
          <a:noFill/>
        </p:spPr>
        <p:txBody>
          <a:bodyPr wrap="square" anchor="t" lIns="101600" tIns="76200" rIns="101600" bIns="7620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6C7A89"/>
                </a:solidFill>
                <a:latin typeface="Aptos"/>
              </a:defRPr>
            </a:pPr>
            <a:r>
              <a:t>Dockerfile описывает сборку образа. Он не равен контейнеру и не хранит состояние уже запущенного процесса.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6419088"/>
            <a:ext cx="10241280" cy="18288"/>
          </a:xfrm>
          <a:prstGeom prst="rect">
            <a:avLst/>
          </a:prstGeom>
          <a:solidFill>
            <a:srgbClr val="CBD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4512" y="6272784"/>
            <a:ext cx="64008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6C7A89"/>
                </a:solidFill>
                <a:latin typeface="Bahnschrift"/>
              </a:defRPr>
            </a:pPr>
            <a: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691640"/>
            <a:ext cx="4663440" cy="4297680"/>
          </a:xfrm>
          <a:prstGeom prst="roundRect">
            <a:avLst/>
          </a:prstGeom>
          <a:solidFill>
            <a:srgbClr val="0D1B2A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837944"/>
            <a:ext cx="4334255" cy="4023360"/>
          </a:xfrm>
          <a:prstGeom prst="rect">
            <a:avLst/>
          </a:prstGeom>
          <a:noFill/>
        </p:spPr>
        <p:txBody>
          <a:bodyPr wrap="square" anchor="t" lIns="50800" tIns="50800" rIns="50800" bIns="5080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  <a:defRPr sz="1300" b="0">
                <a:solidFill>
                  <a:srgbClr val="F7F4EA"/>
                </a:solidFill>
                <a:latin typeface="Consolas"/>
              </a:defRPr>
            </a:pPr>
            <a:r>
              <a:t>FROM nginx:stable-alpine</a:t>
            </a:r>
          </a:p>
          <a:p>
            <a:pPr algn="l">
              <a:lnSpc>
                <a:spcPct val="110000"/>
              </a:lnSpc>
              <a:spcAft>
                <a:spcPts val="300"/>
              </a:spcAft>
              <a:defRPr sz="1300" b="0">
                <a:solidFill>
                  <a:srgbClr val="F7F4EA"/>
                </a:solidFill>
                <a:latin typeface="Consolas"/>
              </a:defRPr>
            </a:pPr>
            <a:r>
              <a:t>COPY app/index.html /usr/share/nginx/html/index.html</a:t>
            </a:r>
          </a:p>
          <a:p>
            <a:pPr algn="l">
              <a:lnSpc>
                <a:spcPct val="110000"/>
              </a:lnSpc>
              <a:spcAft>
                <a:spcPts val="300"/>
              </a:spcAft>
              <a:defRPr sz="1300" b="0">
                <a:solidFill>
                  <a:srgbClr val="F7F4EA"/>
                </a:solidFill>
                <a:latin typeface="Consolas"/>
              </a:defRPr>
            </a:pPr>
            <a:r>
              <a:t>EXPOSE 80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23560" y="1737360"/>
            <a:ext cx="251460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769864" y="1883664"/>
            <a:ext cx="676656" cy="38404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9864" y="1892807"/>
            <a:ext cx="676656" cy="320040"/>
          </a:xfrm>
          <a:prstGeom prst="rect">
            <a:avLst/>
          </a:prstGeom>
          <a:noFill/>
        </p:spPr>
        <p:txBody>
          <a:bodyPr wrap="square" anchor="ctr" lIns="25400" tIns="0" rIns="25400" bIns="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FROM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1938528"/>
            <a:ext cx="1417320" cy="38404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100" b="0">
                <a:solidFill>
                  <a:srgbClr val="102A43"/>
                </a:solidFill>
                <a:latin typeface="Aptos"/>
              </a:defRPr>
            </a:pPr>
            <a:r>
              <a:t>Выбирает базовый образ.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30768" y="1737360"/>
            <a:ext cx="251460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4A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577072" y="1883664"/>
            <a:ext cx="676656" cy="384048"/>
          </a:xfrm>
          <a:prstGeom prst="round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77072" y="1892807"/>
            <a:ext cx="676656" cy="320040"/>
          </a:xfrm>
          <a:prstGeom prst="rect">
            <a:avLst/>
          </a:prstGeom>
          <a:noFill/>
        </p:spPr>
        <p:txBody>
          <a:bodyPr wrap="square" anchor="ctr" lIns="25400" tIns="0" rIns="25400" bIns="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0D1B2A"/>
                </a:solidFill>
                <a:latin typeface="Aptos"/>
              </a:defRPr>
            </a:pPr>
            <a:r>
              <a:t>COPY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45168" y="1938528"/>
            <a:ext cx="1417320" cy="38404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100" b="0">
                <a:solidFill>
                  <a:srgbClr val="102A43"/>
                </a:solidFill>
                <a:latin typeface="Aptos"/>
              </a:defRPr>
            </a:pPr>
            <a:r>
              <a:t>Копирует файлы из контекста сборки.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23560" y="2788920"/>
            <a:ext cx="251460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7C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769864" y="2935224"/>
            <a:ext cx="676656" cy="384048"/>
          </a:xfrm>
          <a:prstGeom prst="roundRect">
            <a:avLst/>
          </a:prstGeom>
          <a:solidFill>
            <a:srgbClr val="F7C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4" y="2944368"/>
            <a:ext cx="676656" cy="320040"/>
          </a:xfrm>
          <a:prstGeom prst="rect">
            <a:avLst/>
          </a:prstGeom>
          <a:noFill/>
        </p:spPr>
        <p:txBody>
          <a:bodyPr wrap="square" anchor="ctr" lIns="25400" tIns="0" rIns="25400" bIns="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0D1B2A"/>
                </a:solidFill>
                <a:latin typeface="Aptos"/>
              </a:defRPr>
            </a:pPr>
            <a:r>
              <a:t>RUN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2990088"/>
            <a:ext cx="1417320" cy="38404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100" b="0">
                <a:solidFill>
                  <a:srgbClr val="102A43"/>
                </a:solidFill>
                <a:latin typeface="Aptos"/>
              </a:defRPr>
            </a:pPr>
            <a:r>
              <a:t>Выполняет команды во время build.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30768" y="2788920"/>
            <a:ext cx="251460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577072" y="2935224"/>
            <a:ext cx="676656" cy="38404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77072" y="2944368"/>
            <a:ext cx="676656" cy="320040"/>
          </a:xfrm>
          <a:prstGeom prst="rect">
            <a:avLst/>
          </a:prstGeom>
          <a:noFill/>
        </p:spPr>
        <p:txBody>
          <a:bodyPr wrap="square" anchor="ctr" lIns="25400" tIns="0" rIns="25400" bIns="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WORKDIR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45168" y="2990088"/>
            <a:ext cx="1417320" cy="38404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100" b="0">
                <a:solidFill>
                  <a:srgbClr val="102A43"/>
                </a:solidFill>
                <a:latin typeface="Aptos"/>
              </a:defRPr>
            </a:pPr>
            <a:r>
              <a:t>Задаёт рабочую директорию.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23560" y="3840480"/>
            <a:ext cx="251460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4A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769864" y="3986784"/>
            <a:ext cx="676656" cy="384048"/>
          </a:xfrm>
          <a:prstGeom prst="round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69864" y="3995928"/>
            <a:ext cx="676656" cy="320040"/>
          </a:xfrm>
          <a:prstGeom prst="rect">
            <a:avLst/>
          </a:prstGeom>
          <a:noFill/>
        </p:spPr>
        <p:txBody>
          <a:bodyPr wrap="square" anchor="ctr" lIns="25400" tIns="0" rIns="25400" bIns="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0D1B2A"/>
                </a:solidFill>
                <a:latin typeface="Aptos"/>
              </a:defRPr>
            </a:pPr>
            <a:r>
              <a:t>EXPOSE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4041648"/>
            <a:ext cx="1417320" cy="38404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100" b="0">
                <a:solidFill>
                  <a:srgbClr val="102A43"/>
                </a:solidFill>
                <a:latin typeface="Aptos"/>
              </a:defRPr>
            </a:pPr>
            <a:r>
              <a:t>Документирует порт контейнера.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430768" y="3840480"/>
            <a:ext cx="251460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7C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577072" y="3986784"/>
            <a:ext cx="676656" cy="384048"/>
          </a:xfrm>
          <a:prstGeom prst="roundRect">
            <a:avLst/>
          </a:prstGeom>
          <a:solidFill>
            <a:srgbClr val="F7C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77072" y="3995928"/>
            <a:ext cx="676656" cy="320040"/>
          </a:xfrm>
          <a:prstGeom prst="rect">
            <a:avLst/>
          </a:prstGeom>
          <a:noFill/>
        </p:spPr>
        <p:txBody>
          <a:bodyPr wrap="square" anchor="ctr" lIns="25400" tIns="0" rIns="25400" bIns="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0D1B2A"/>
                </a:solidFill>
                <a:latin typeface="Aptos"/>
              </a:defRPr>
            </a:pPr>
            <a:r>
              <a:t>CMD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45168" y="4041648"/>
            <a:ext cx="1417320" cy="38404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100" b="0">
                <a:solidFill>
                  <a:srgbClr val="102A43"/>
                </a:solidFill>
                <a:latin typeface="Aptos"/>
              </a:defRPr>
            </a:pPr>
            <a:r>
              <a:t>Задаёт команду по умолчанию.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23560" y="5029200"/>
            <a:ext cx="5321808" cy="960120"/>
          </a:xfrm>
          <a:prstGeom prst="roundRect">
            <a:avLst/>
          </a:prstGeom>
          <a:solidFill>
            <a:srgbClr val="0D1B2A"/>
          </a:solidFill>
          <a:ln w="15240">
            <a:solidFill>
              <a:srgbClr val="0D1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70448" y="5276088"/>
            <a:ext cx="4800600" cy="411480"/>
          </a:xfrm>
          <a:prstGeom prst="rect">
            <a:avLst/>
          </a:prstGeom>
          <a:noFill/>
        </p:spPr>
        <p:txBody>
          <a:bodyPr wrap="square" anchor="t" lIns="101600" tIns="76200" rIns="101600" bIns="7620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200" b="1">
                <a:solidFill>
                  <a:srgbClr val="F7F4EA"/>
                </a:solidFill>
                <a:latin typeface="Aptos"/>
              </a:defRPr>
            </a:pPr>
            <a:r>
              <a:t>Точка в конце docker build -t lesson-site:1.0 . означает текущий контекст сборки.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777472" y="384048"/>
            <a:ext cx="146304" cy="530352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438912"/>
            <a:ext cx="2377440" cy="384048"/>
          </a:xfrm>
          <a:prstGeom prst="roundRect">
            <a:avLst/>
          </a:prstGeom>
          <a:solidFill>
            <a:srgbClr val="F7C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48056"/>
            <a:ext cx="2377440" cy="320040"/>
          </a:xfrm>
          <a:prstGeom prst="rect">
            <a:avLst/>
          </a:prstGeom>
          <a:noFill/>
        </p:spPr>
        <p:txBody>
          <a:bodyPr wrap="square" anchor="ctr" lIns="25400" tIns="0" rIns="25400" bIns="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0D1B2A"/>
                </a:solidFill>
                <a:latin typeface="Aptos"/>
              </a:defRPr>
            </a:pPr>
            <a:r>
              <a:t>Интерактив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22960"/>
            <a:ext cx="6766560" cy="749808"/>
          </a:xfrm>
          <a:prstGeom prst="rect">
            <a:avLst/>
          </a:prstGeom>
          <a:noFill/>
        </p:spPr>
        <p:txBody>
          <a:bodyPr wrap="square" anchor="t" lIns="101600" tIns="76200" rIns="101600" bIns="7620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2600" b="1">
                <a:solidFill>
                  <a:srgbClr val="F7F4EA"/>
                </a:solidFill>
                <a:latin typeface="Bahnschrift"/>
              </a:defRPr>
            </a:pPr>
            <a:r>
              <a:t>Перед командами: сначала прогноз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8412480" cy="502920"/>
          </a:xfrm>
          <a:prstGeom prst="rect">
            <a:avLst/>
          </a:prstGeom>
          <a:noFill/>
        </p:spPr>
        <p:txBody>
          <a:bodyPr wrap="square" anchor="t" lIns="101600" tIns="76200" rIns="101600" bIns="7620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E9DFC8"/>
                </a:solidFill>
                <a:latin typeface="Aptos"/>
              </a:defRPr>
            </a:pPr>
            <a:r>
              <a:t>Этот слайд нужен, чтобы группа сначала подумала, а уже потом увидела результат в терминале.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6419088"/>
            <a:ext cx="10241280" cy="18288"/>
          </a:xfrm>
          <a:prstGeom prst="rect">
            <a:avLst/>
          </a:prstGeom>
          <a:solidFill>
            <a:srgbClr val="E9D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4512" y="6272784"/>
            <a:ext cx="64008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E9DFC8"/>
                </a:solidFill>
                <a:latin typeface="Bahnschrift"/>
              </a:defRPr>
            </a:pPr>
            <a: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83080"/>
            <a:ext cx="4754880" cy="3520440"/>
          </a:xfrm>
          <a:prstGeom prst="roundRect">
            <a:avLst/>
          </a:prstGeom>
          <a:solidFill>
            <a:srgbClr val="1B263B"/>
          </a:solidFill>
          <a:ln w="15240">
            <a:solidFill>
              <a:srgbClr val="53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929384"/>
            <a:ext cx="4425696" cy="3246120"/>
          </a:xfrm>
          <a:prstGeom prst="rect">
            <a:avLst/>
          </a:prstGeom>
          <a:noFill/>
        </p:spPr>
        <p:txBody>
          <a:bodyPr wrap="square" anchor="t" lIns="50800" tIns="50800" rIns="50800" bIns="5080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  <a:defRPr sz="1250" b="0">
                <a:solidFill>
                  <a:srgbClr val="F7F4EA"/>
                </a:solidFill>
                <a:latin typeface="Consolas"/>
              </a:defRPr>
            </a:pPr>
            <a:r>
              <a:t>docker run hello-world</a:t>
            </a:r>
          </a:p>
          <a:p>
            <a:pPr algn="l">
              <a:lnSpc>
                <a:spcPct val="110000"/>
              </a:lnSpc>
              <a:spcAft>
                <a:spcPts val="300"/>
              </a:spcAft>
              <a:defRPr sz="1250" b="0">
                <a:solidFill>
                  <a:srgbClr val="F7F4EA"/>
                </a:solidFill>
                <a:latin typeface="Consolas"/>
              </a:defRPr>
            </a:pPr>
          </a:p>
          <a:p>
            <a:pPr algn="l">
              <a:lnSpc>
                <a:spcPct val="110000"/>
              </a:lnSpc>
              <a:spcAft>
                <a:spcPts val="300"/>
              </a:spcAft>
              <a:defRPr sz="1250" b="0">
                <a:solidFill>
                  <a:srgbClr val="F7F4EA"/>
                </a:solidFill>
                <a:latin typeface="Consolas"/>
              </a:defRPr>
            </a:pPr>
            <a:r>
              <a:t>docker ps</a:t>
            </a:r>
          </a:p>
          <a:p>
            <a:pPr algn="l">
              <a:lnSpc>
                <a:spcPct val="110000"/>
              </a:lnSpc>
              <a:spcAft>
                <a:spcPts val="300"/>
              </a:spcAft>
              <a:defRPr sz="1250" b="0">
                <a:solidFill>
                  <a:srgbClr val="F7F4EA"/>
                </a:solidFill>
                <a:latin typeface="Consolas"/>
              </a:defRPr>
            </a:pPr>
          </a:p>
          <a:p>
            <a:pPr algn="l">
              <a:lnSpc>
                <a:spcPct val="110000"/>
              </a:lnSpc>
              <a:spcAft>
                <a:spcPts val="300"/>
              </a:spcAft>
              <a:defRPr sz="1250" b="0">
                <a:solidFill>
                  <a:srgbClr val="F7F4EA"/>
                </a:solidFill>
                <a:latin typeface="Consolas"/>
              </a:defRPr>
            </a:pPr>
            <a:r>
              <a:t>docker ps -a</a:t>
            </a:r>
          </a:p>
          <a:p>
            <a:pPr algn="l">
              <a:lnSpc>
                <a:spcPct val="110000"/>
              </a:lnSpc>
              <a:spcAft>
                <a:spcPts val="300"/>
              </a:spcAft>
              <a:defRPr sz="1250" b="0">
                <a:solidFill>
                  <a:srgbClr val="F7F4EA"/>
                </a:solidFill>
                <a:latin typeface="Consolas"/>
              </a:defRPr>
            </a:pPr>
          </a:p>
          <a:p>
            <a:pPr algn="l">
              <a:lnSpc>
                <a:spcPct val="110000"/>
              </a:lnSpc>
              <a:spcAft>
                <a:spcPts val="300"/>
              </a:spcAft>
              <a:defRPr sz="1250" b="0">
                <a:solidFill>
                  <a:srgbClr val="F7F4EA"/>
                </a:solidFill>
                <a:latin typeface="Consolas"/>
              </a:defRPr>
            </a:pPr>
            <a:r>
              <a:t>docker run -d -p 8080:80 nginx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97880" y="1783080"/>
            <a:ext cx="5486400" cy="1325880"/>
          </a:xfrm>
          <a:prstGeom prst="roundRect">
            <a:avLst/>
          </a:prstGeom>
          <a:solidFill>
            <a:srgbClr val="F7F4EA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44184" y="1947672"/>
            <a:ext cx="146304" cy="996695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1947672"/>
            <a:ext cx="493776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500" b="1">
                <a:solidFill>
                  <a:srgbClr val="0D1B2A"/>
                </a:solidFill>
                <a:latin typeface="Bahnschrift"/>
              </a:defRPr>
            </a:pPr>
            <a:r>
              <a:t>Что спросить у группы до Enter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2350008"/>
            <a:ext cx="4992624" cy="630936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• Что Docker скачает автоматически?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• Что завершится сразу?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• Что будет видно в docker ps?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• Что останется работать в фоне?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97880" y="3337560"/>
            <a:ext cx="5486400" cy="1325880"/>
          </a:xfrm>
          <a:prstGeom prst="roundRect">
            <a:avLst/>
          </a:prstGeom>
          <a:solidFill>
            <a:srgbClr val="F7F4EA"/>
          </a:solidFill>
          <a:ln w="15240">
            <a:solidFill>
              <a:srgbClr val="F4A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044184" y="3502152"/>
            <a:ext cx="146304" cy="996695"/>
          </a:xfrm>
          <a:prstGeom prst="round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81928" y="3502152"/>
            <a:ext cx="493776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500" b="1">
                <a:solidFill>
                  <a:srgbClr val="0D1B2A"/>
                </a:solidFill>
                <a:latin typeface="Bahnschrift"/>
              </a:defRPr>
            </a:pPr>
            <a:r>
              <a:t>Какие идеи здесь закрепляются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1928" y="3904487"/>
            <a:ext cx="4992624" cy="630936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Image vs container, жизненный цикл контейнера, публикация порта и разница между завершившимся и активным контейнером.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97880" y="4983480"/>
            <a:ext cx="5486400" cy="713232"/>
          </a:xfrm>
          <a:prstGeom prst="roundRect">
            <a:avLst/>
          </a:prstGeom>
          <a:solidFill>
            <a:srgbClr val="1B263B"/>
          </a:solidFill>
          <a:ln w="15240">
            <a:solidFill>
              <a:srgbClr val="53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63056" y="5175504"/>
            <a:ext cx="4983480" cy="256032"/>
          </a:xfrm>
          <a:prstGeom prst="rect">
            <a:avLst/>
          </a:prstGeom>
          <a:noFill/>
        </p:spPr>
        <p:txBody>
          <a:bodyPr wrap="square" anchor="t" lIns="101600" tIns="76200" rIns="101600" bIns="7620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100" b="1">
                <a:solidFill>
                  <a:srgbClr val="F7F4EA"/>
                </a:solidFill>
                <a:latin typeface="Aptos"/>
              </a:defRPr>
            </a:pPr>
            <a:r>
              <a:t>Лучший эффект: сначала прогноз группы, потом команда, потом короткий разбор результата.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777472" y="384048"/>
            <a:ext cx="146304" cy="530352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438912"/>
            <a:ext cx="2377440" cy="384048"/>
          </a:xfrm>
          <a:prstGeom prst="roundRect">
            <a:avLst/>
          </a:prstGeom>
          <a:solidFill>
            <a:srgbClr val="F7C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48056"/>
            <a:ext cx="2377440" cy="320040"/>
          </a:xfrm>
          <a:prstGeom prst="rect">
            <a:avLst/>
          </a:prstGeom>
          <a:noFill/>
        </p:spPr>
        <p:txBody>
          <a:bodyPr wrap="square" anchor="ctr" lIns="25400" tIns="0" rIns="25400" bIns="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0D1B2A"/>
                </a:solidFill>
                <a:latin typeface="Aptos"/>
              </a:defRPr>
            </a:pPr>
            <a:r>
              <a:t>Живая демонстрация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22960"/>
            <a:ext cx="6766560" cy="749808"/>
          </a:xfrm>
          <a:prstGeom prst="rect">
            <a:avLst/>
          </a:prstGeom>
          <a:noFill/>
        </p:spPr>
        <p:txBody>
          <a:bodyPr wrap="square" anchor="t" lIns="101600" tIns="76200" rIns="101600" bIns="7620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2600" b="1">
                <a:solidFill>
                  <a:srgbClr val="F7F4EA"/>
                </a:solidFill>
                <a:latin typeface="Bahnschrift"/>
              </a:defRPr>
            </a:pPr>
            <a:r>
              <a:t>Демо 1: первый контейнер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8412480" cy="502920"/>
          </a:xfrm>
          <a:prstGeom prst="rect">
            <a:avLst/>
          </a:prstGeom>
          <a:noFill/>
        </p:spPr>
        <p:txBody>
          <a:bodyPr wrap="square" anchor="t" lIns="101600" tIns="76200" rIns="101600" bIns="7620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E9DFC8"/>
                </a:solidFill>
                <a:latin typeface="Aptos"/>
              </a:defRPr>
            </a:pPr>
            <a:r>
              <a:t>Самый быстрый способ показать, что образ можно скачать и выполнить одной командой.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6419088"/>
            <a:ext cx="10241280" cy="18288"/>
          </a:xfrm>
          <a:prstGeom prst="rect">
            <a:avLst/>
          </a:prstGeom>
          <a:solidFill>
            <a:srgbClr val="E9D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4512" y="6272784"/>
            <a:ext cx="64008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E9DFC8"/>
                </a:solidFill>
                <a:latin typeface="Bahnschrift"/>
              </a:defRPr>
            </a:pPr>
            <a: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691640"/>
            <a:ext cx="4892040" cy="3246120"/>
          </a:xfrm>
          <a:prstGeom prst="roundRect">
            <a:avLst/>
          </a:prstGeom>
          <a:solidFill>
            <a:srgbClr val="1B263B"/>
          </a:solidFill>
          <a:ln w="15240">
            <a:solidFill>
              <a:srgbClr val="53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837944"/>
            <a:ext cx="4562855" cy="2971800"/>
          </a:xfrm>
          <a:prstGeom prst="rect">
            <a:avLst/>
          </a:prstGeom>
          <a:noFill/>
        </p:spPr>
        <p:txBody>
          <a:bodyPr wrap="square" anchor="t" lIns="50800" tIns="50800" rIns="50800" bIns="5080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  <a:defRPr sz="1300" b="0">
                <a:solidFill>
                  <a:srgbClr val="F7F4EA"/>
                </a:solidFill>
                <a:latin typeface="Consolas"/>
              </a:defRPr>
            </a:pPr>
            <a:r>
              <a:t>docker run hello-world</a:t>
            </a:r>
          </a:p>
          <a:p>
            <a:pPr algn="l">
              <a:lnSpc>
                <a:spcPct val="110000"/>
              </a:lnSpc>
              <a:spcAft>
                <a:spcPts val="300"/>
              </a:spcAft>
              <a:defRPr sz="1300" b="0">
                <a:solidFill>
                  <a:srgbClr val="F7F4EA"/>
                </a:solidFill>
                <a:latin typeface="Consolas"/>
              </a:defRPr>
            </a:pPr>
          </a:p>
          <a:p>
            <a:pPr algn="l">
              <a:lnSpc>
                <a:spcPct val="110000"/>
              </a:lnSpc>
              <a:spcAft>
                <a:spcPts val="300"/>
              </a:spcAft>
              <a:defRPr sz="1300" b="0">
                <a:solidFill>
                  <a:srgbClr val="F7F4EA"/>
                </a:solidFill>
                <a:latin typeface="Consolas"/>
              </a:defRPr>
            </a:pPr>
            <a:r>
              <a:t>docker ps</a:t>
            </a:r>
          </a:p>
          <a:p>
            <a:pPr algn="l">
              <a:lnSpc>
                <a:spcPct val="110000"/>
              </a:lnSpc>
              <a:spcAft>
                <a:spcPts val="300"/>
              </a:spcAft>
              <a:defRPr sz="1300" b="0">
                <a:solidFill>
                  <a:srgbClr val="F7F4EA"/>
                </a:solidFill>
                <a:latin typeface="Consolas"/>
              </a:defRPr>
            </a:pPr>
          </a:p>
          <a:p>
            <a:pPr algn="l">
              <a:lnSpc>
                <a:spcPct val="110000"/>
              </a:lnSpc>
              <a:spcAft>
                <a:spcPts val="300"/>
              </a:spcAft>
              <a:defRPr sz="1300" b="0">
                <a:solidFill>
                  <a:srgbClr val="F7F4EA"/>
                </a:solidFill>
                <a:latin typeface="Consolas"/>
              </a:defRPr>
            </a:pPr>
            <a:r>
              <a:t>docker ps -a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1737360"/>
            <a:ext cx="5440680" cy="2423160"/>
          </a:xfrm>
          <a:prstGeom prst="roundRect">
            <a:avLst/>
          </a:prstGeom>
          <a:solidFill>
            <a:srgbClr val="F7F4EA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35624" y="1901952"/>
            <a:ext cx="146304" cy="2093976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1901952"/>
            <a:ext cx="489204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500" b="1">
                <a:solidFill>
                  <a:srgbClr val="0D1B2A"/>
                </a:solidFill>
                <a:latin typeface="Bahnschrift"/>
              </a:defRPr>
            </a:pPr>
            <a:r>
              <a:t>Что объяснить студентам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2304288"/>
            <a:ext cx="4946904" cy="1728216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• Образ может скачаться автоматически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• Контейнер может завершиться сразу после своей команды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• docker ps показывает активные контейнеры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• docker ps -a показывает все контейнеры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5257800"/>
            <a:ext cx="4892040" cy="658368"/>
          </a:xfrm>
          <a:prstGeom prst="roundRect">
            <a:avLst/>
          </a:prstGeom>
          <a:solidFill>
            <a:srgbClr val="1B263B"/>
          </a:solidFill>
          <a:ln w="15240">
            <a:solidFill>
              <a:srgbClr val="53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5440680"/>
            <a:ext cx="4480560" cy="182880"/>
          </a:xfrm>
          <a:prstGeom prst="rect">
            <a:avLst/>
          </a:prstGeom>
          <a:noFill/>
        </p:spPr>
        <p:txBody>
          <a:bodyPr wrap="square" anchor="t" lIns="101600" tIns="76200" rIns="101600" bIns="7620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100" b="0">
                <a:solidFill>
                  <a:srgbClr val="F7F4EA"/>
                </a:solidFill>
                <a:latin typeface="Aptos"/>
              </a:defRPr>
            </a:pPr>
            <a:r>
              <a:t>Ключевой вывод: container != image, а завершившийся container не пропадает сам из списка all.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89320" y="5257800"/>
            <a:ext cx="5440680" cy="658368"/>
          </a:xfrm>
          <a:prstGeom prst="roundRect">
            <a:avLst/>
          </a:prstGeom>
          <a:solidFill>
            <a:srgbClr val="F4A261"/>
          </a:solidFill>
          <a:ln w="15240">
            <a:solidFill>
              <a:srgbClr val="F4A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72784" y="5440680"/>
            <a:ext cx="4892040" cy="182880"/>
          </a:xfrm>
          <a:prstGeom prst="rect">
            <a:avLst/>
          </a:prstGeom>
          <a:noFill/>
        </p:spPr>
        <p:txBody>
          <a:bodyPr wrap="square" anchor="t" lIns="101600" tIns="76200" rIns="101600" bIns="7620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100" b="1">
                <a:solidFill>
                  <a:srgbClr val="0D1B2A"/>
                </a:solidFill>
                <a:latin typeface="Aptos"/>
              </a:defRPr>
            </a:pPr>
            <a:r>
              <a:t>Вопрос аудитории: почему hello-world завершился, а nginx будет работать дальше?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41480" y="566928"/>
            <a:ext cx="91440" cy="5074920"/>
          </a:xfrm>
          <a:prstGeom prst="rect">
            <a:avLst/>
          </a:prstGeom>
          <a:solidFill>
            <a:srgbClr val="CFE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438912"/>
            <a:ext cx="2377440" cy="384048"/>
          </a:xfrm>
          <a:prstGeom prst="round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48056"/>
            <a:ext cx="2377440" cy="320040"/>
          </a:xfrm>
          <a:prstGeom prst="rect">
            <a:avLst/>
          </a:prstGeom>
          <a:noFill/>
        </p:spPr>
        <p:txBody>
          <a:bodyPr wrap="square" anchor="ctr" lIns="25400" tIns="0" rIns="25400" bIns="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Живая демонстрация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22960"/>
            <a:ext cx="6766560" cy="749808"/>
          </a:xfrm>
          <a:prstGeom prst="rect">
            <a:avLst/>
          </a:prstGeom>
          <a:noFill/>
        </p:spPr>
        <p:txBody>
          <a:bodyPr wrap="square" anchor="t" lIns="101600" tIns="76200" rIns="101600" bIns="7620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2600" b="1">
                <a:solidFill>
                  <a:srgbClr val="0D1B2A"/>
                </a:solidFill>
                <a:latin typeface="Bahnschrift"/>
              </a:defRPr>
            </a:pPr>
            <a:r>
              <a:t>Демо 2: веб-контейнер на Nginx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8412480" cy="502920"/>
          </a:xfrm>
          <a:prstGeom prst="rect">
            <a:avLst/>
          </a:prstGeom>
          <a:noFill/>
        </p:spPr>
        <p:txBody>
          <a:bodyPr wrap="square" anchor="t" lIns="101600" tIns="76200" rIns="101600" bIns="7620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6C7A89"/>
                </a:solidFill>
                <a:latin typeface="Aptos"/>
              </a:defRPr>
            </a:pPr>
            <a:r>
              <a:t>Здесь удобно показать долгоживущий контейнер, проброс порта и работу логов.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6419088"/>
            <a:ext cx="10241280" cy="18288"/>
          </a:xfrm>
          <a:prstGeom prst="rect">
            <a:avLst/>
          </a:prstGeom>
          <a:solidFill>
            <a:srgbClr val="CBD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4512" y="6272784"/>
            <a:ext cx="64008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6C7A89"/>
                </a:solidFill>
                <a:latin typeface="Bahnschrift"/>
              </a:defRPr>
            </a:pPr>
            <a: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783080"/>
            <a:ext cx="4754880" cy="3456432"/>
          </a:xfrm>
          <a:prstGeom prst="roundRect">
            <a:avLst/>
          </a:prstGeom>
          <a:solidFill>
            <a:srgbClr val="0D1B2A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929384"/>
            <a:ext cx="4425696" cy="3182112"/>
          </a:xfrm>
          <a:prstGeom prst="rect">
            <a:avLst/>
          </a:prstGeom>
          <a:noFill/>
        </p:spPr>
        <p:txBody>
          <a:bodyPr wrap="square" anchor="t" lIns="50800" tIns="50800" rIns="50800" bIns="5080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  <a:defRPr sz="1200" b="0">
                <a:solidFill>
                  <a:srgbClr val="F7F4EA"/>
                </a:solidFill>
                <a:latin typeface="Consolas"/>
              </a:defRPr>
            </a:pPr>
            <a:r>
              <a:t>docker run -d --name demo-nginx \</a:t>
            </a:r>
          </a:p>
          <a:p>
            <a:pPr algn="l">
              <a:lnSpc>
                <a:spcPct val="110000"/>
              </a:lnSpc>
              <a:spcAft>
                <a:spcPts val="300"/>
              </a:spcAft>
              <a:defRPr sz="1200" b="0">
                <a:solidFill>
                  <a:srgbClr val="F7F4EA"/>
                </a:solidFill>
                <a:latin typeface="Consolas"/>
              </a:defRPr>
            </a:pPr>
            <a:r>
              <a:t>  -p 8080:80 nginx</a:t>
            </a:r>
          </a:p>
          <a:p>
            <a:pPr algn="l">
              <a:lnSpc>
                <a:spcPct val="110000"/>
              </a:lnSpc>
              <a:spcAft>
                <a:spcPts val="300"/>
              </a:spcAft>
              <a:defRPr sz="1200" b="0">
                <a:solidFill>
                  <a:srgbClr val="F7F4EA"/>
                </a:solidFill>
                <a:latin typeface="Consolas"/>
              </a:defRPr>
            </a:pPr>
          </a:p>
          <a:p>
            <a:pPr algn="l">
              <a:lnSpc>
                <a:spcPct val="110000"/>
              </a:lnSpc>
              <a:spcAft>
                <a:spcPts val="300"/>
              </a:spcAft>
              <a:defRPr sz="1200" b="0">
                <a:solidFill>
                  <a:srgbClr val="F7F4EA"/>
                </a:solidFill>
                <a:latin typeface="Consolas"/>
              </a:defRPr>
            </a:pPr>
            <a:r>
              <a:t>docker ps</a:t>
            </a:r>
          </a:p>
          <a:p>
            <a:pPr algn="l">
              <a:lnSpc>
                <a:spcPct val="110000"/>
              </a:lnSpc>
              <a:spcAft>
                <a:spcPts val="300"/>
              </a:spcAft>
              <a:defRPr sz="1200" b="0">
                <a:solidFill>
                  <a:srgbClr val="F7F4EA"/>
                </a:solidFill>
                <a:latin typeface="Consolas"/>
              </a:defRPr>
            </a:pPr>
          </a:p>
          <a:p>
            <a:pPr algn="l">
              <a:lnSpc>
                <a:spcPct val="110000"/>
              </a:lnSpc>
              <a:spcAft>
                <a:spcPts val="300"/>
              </a:spcAft>
              <a:defRPr sz="1200" b="0">
                <a:solidFill>
                  <a:srgbClr val="F7F4EA"/>
                </a:solidFill>
                <a:latin typeface="Consolas"/>
              </a:defRPr>
            </a:pPr>
            <a:r>
              <a:t>docker logs demo-nginx</a:t>
            </a:r>
          </a:p>
          <a:p>
            <a:pPr algn="l">
              <a:lnSpc>
                <a:spcPct val="110000"/>
              </a:lnSpc>
              <a:spcAft>
                <a:spcPts val="300"/>
              </a:spcAft>
              <a:defRPr sz="1200" b="0">
                <a:solidFill>
                  <a:srgbClr val="F7F4EA"/>
                </a:solidFill>
                <a:latin typeface="Consolas"/>
              </a:defRPr>
            </a:pPr>
          </a:p>
          <a:p>
            <a:pPr algn="l">
              <a:lnSpc>
                <a:spcPct val="110000"/>
              </a:lnSpc>
              <a:spcAft>
                <a:spcPts val="300"/>
              </a:spcAft>
              <a:defRPr sz="1200" b="0">
                <a:solidFill>
                  <a:srgbClr val="F7F4EA"/>
                </a:solidFill>
                <a:latin typeface="Consolas"/>
              </a:defRPr>
            </a:pPr>
            <a:r>
              <a:t>docker stop demo-nginx</a:t>
            </a:r>
          </a:p>
          <a:p>
            <a:pPr algn="l">
              <a:lnSpc>
                <a:spcPct val="110000"/>
              </a:lnSpc>
              <a:spcAft>
                <a:spcPts val="300"/>
              </a:spcAft>
              <a:defRPr sz="1200" b="0">
                <a:solidFill>
                  <a:srgbClr val="F7F4EA"/>
                </a:solidFill>
                <a:latin typeface="Consolas"/>
              </a:defRPr>
            </a:pPr>
            <a:r>
              <a:t>docker rm demo-nginx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97880" y="1783080"/>
            <a:ext cx="5120640" cy="2971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97880" y="1783080"/>
            <a:ext cx="5120640" cy="420624"/>
          </a:xfrm>
          <a:prstGeom prst="rect">
            <a:avLst/>
          </a:prstGeom>
          <a:solidFill>
            <a:srgbClr val="EEF3F7"/>
          </a:solidFill>
          <a:ln w="1524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989320" y="1874519"/>
            <a:ext cx="100584" cy="100584"/>
          </a:xfrm>
          <a:prstGeom prst="ellipse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117336" y="1874519"/>
            <a:ext cx="100584" cy="100584"/>
          </a:xfrm>
          <a:prstGeom prst="ellipse">
            <a:avLst/>
          </a:prstGeom>
          <a:solidFill>
            <a:srgbClr val="F7C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45352" y="1874519"/>
            <a:ext cx="100584" cy="100584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56248" y="1856231"/>
            <a:ext cx="4206240" cy="228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47688" y="1874519"/>
            <a:ext cx="4023359" cy="164592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000" b="0">
                <a:solidFill>
                  <a:srgbClr val="6C7A89"/>
                </a:solidFill>
                <a:latin typeface="Aptos"/>
              </a:defRPr>
            </a:pPr>
            <a:r>
              <a:t>http://localhost:8080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560320"/>
            <a:ext cx="4480559" cy="640080"/>
          </a:xfrm>
          <a:prstGeom prst="rect">
            <a:avLst/>
          </a:prstGeom>
          <a:noFill/>
        </p:spPr>
        <p:txBody>
          <a:bodyPr wrap="square" anchor="t" lIns="101600" tIns="76200" rIns="101600" bIns="7620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2200" b="1">
                <a:solidFill>
                  <a:srgbClr val="0D1B2A"/>
                </a:solidFill>
                <a:latin typeface="Bahnschrift"/>
              </a:defRPr>
            </a:pPr>
            <a:r>
              <a:t>Nginx отвечает на localhost:8080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355848"/>
            <a:ext cx="4114800" cy="594360"/>
          </a:xfrm>
          <a:prstGeom prst="rect">
            <a:avLst/>
          </a:prstGeom>
          <a:noFill/>
        </p:spPr>
        <p:txBody>
          <a:bodyPr wrap="square" anchor="t" lIns="101600" tIns="76200" rIns="101600" bIns="7620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300" b="0">
                <a:solidFill>
                  <a:srgbClr val="6C7A89"/>
                </a:solidFill>
                <a:latin typeface="Aptos"/>
              </a:defRPr>
            </a:pPr>
            <a:r>
              <a:t>Покажите связку host 8080 -&gt; container 80 и попросите студентов открыть страницу.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0" y="4023360"/>
            <a:ext cx="2651759" cy="530352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23760" y="4133087"/>
            <a:ext cx="2468879" cy="256032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Контейнер запущен и отвечает по HTTP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413248"/>
            <a:ext cx="4754880" cy="566928"/>
          </a:xfrm>
          <a:prstGeom prst="roundRect">
            <a:avLst/>
          </a:prstGeom>
          <a:solidFill>
            <a:srgbClr val="0D1B2A"/>
          </a:solidFill>
          <a:ln w="15240">
            <a:solidFill>
              <a:srgbClr val="0D1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559552"/>
            <a:ext cx="4389120" cy="182880"/>
          </a:xfrm>
          <a:prstGeom prst="rect">
            <a:avLst/>
          </a:prstGeom>
          <a:noFill/>
        </p:spPr>
        <p:txBody>
          <a:bodyPr wrap="square" anchor="t" lIns="101600" tIns="76200" rIns="101600" bIns="7620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50" b="0">
                <a:solidFill>
                  <a:srgbClr val="F7F4EA"/>
                </a:solidFill>
                <a:latin typeface="Aptos"/>
              </a:defRPr>
            </a:pPr>
            <a:r>
              <a:t>Отдельно проговорите флаг -d: контейнер работает в фоне.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97880" y="5230368"/>
            <a:ext cx="5120640" cy="8412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4A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44768" y="5413248"/>
            <a:ext cx="4617720" cy="420624"/>
          </a:xfrm>
          <a:prstGeom prst="rect">
            <a:avLst/>
          </a:prstGeom>
          <a:noFill/>
        </p:spPr>
        <p:txBody>
          <a:bodyPr wrap="square" anchor="ctr" lIns="101600" tIns="76200" rIns="101600" bIns="7620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50" b="1">
                <a:solidFill>
                  <a:srgbClr val="0D1B2A"/>
                </a:solidFill>
                <a:latin typeface="Aptos"/>
              </a:defRPr>
            </a:pPr>
            <a:r>
              <a:t>Проверьте у группы: зачем нужен docker logs,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  <a:defRPr sz="1050" b="1">
                <a:solidFill>
                  <a:srgbClr val="0D1B2A"/>
                </a:solidFill>
                <a:latin typeface="Aptos"/>
              </a:defRPr>
            </a:pPr>
            <a:r>
              <a:t>если страница уже открывается в браузере?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41480" y="566928"/>
            <a:ext cx="91440" cy="5074920"/>
          </a:xfrm>
          <a:prstGeom prst="rect">
            <a:avLst/>
          </a:prstGeom>
          <a:solidFill>
            <a:srgbClr val="CFE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438912"/>
            <a:ext cx="2377440" cy="384048"/>
          </a:xfrm>
          <a:prstGeom prst="round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48056"/>
            <a:ext cx="2377440" cy="320040"/>
          </a:xfrm>
          <a:prstGeom prst="rect">
            <a:avLst/>
          </a:prstGeom>
          <a:noFill/>
        </p:spPr>
        <p:txBody>
          <a:bodyPr wrap="square" anchor="ctr" lIns="25400" tIns="0" rIns="25400" bIns="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Перед практикой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22960"/>
            <a:ext cx="6766560" cy="749808"/>
          </a:xfrm>
          <a:prstGeom prst="rect">
            <a:avLst/>
          </a:prstGeom>
          <a:noFill/>
        </p:spPr>
        <p:txBody>
          <a:bodyPr wrap="square" anchor="t" lIns="101600" tIns="76200" rIns="101600" bIns="7620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2600" b="1">
                <a:solidFill>
                  <a:srgbClr val="0D1B2A"/>
                </a:solidFill>
                <a:latin typeface="Bahnschrift"/>
              </a:defRPr>
            </a:pPr>
            <a:r>
              <a:t>Типичные ошибки новичка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8412480" cy="502920"/>
          </a:xfrm>
          <a:prstGeom prst="rect">
            <a:avLst/>
          </a:prstGeom>
          <a:noFill/>
        </p:spPr>
        <p:txBody>
          <a:bodyPr wrap="square" anchor="t" lIns="101600" tIns="76200" rIns="101600" bIns="7620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6C7A89"/>
                </a:solidFill>
                <a:latin typeface="Aptos"/>
              </a:defRPr>
            </a:pPr>
            <a:r>
              <a:t>Перед самостоятельной практикой полезно заранее снять самые частые сбои, чтобы группа не паниковала на мелочах.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6419088"/>
            <a:ext cx="10241280" cy="18288"/>
          </a:xfrm>
          <a:prstGeom prst="rect">
            <a:avLst/>
          </a:prstGeom>
          <a:solidFill>
            <a:srgbClr val="CBD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4512" y="6272784"/>
            <a:ext cx="64008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6C7A89"/>
                </a:solidFill>
                <a:latin typeface="Bahnschrift"/>
              </a:defRPr>
            </a:pPr>
            <a: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493776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4672" y="1947672"/>
            <a:ext cx="146304" cy="630936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2415" y="1947672"/>
            <a:ext cx="438912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500" b="1">
                <a:solidFill>
                  <a:srgbClr val="0D1B2A"/>
                </a:solidFill>
                <a:latin typeface="Bahnschrift"/>
              </a:defRPr>
            </a:pPr>
            <a:r>
              <a:t>Путают image и container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5" y="2350008"/>
            <a:ext cx="4443984" cy="265176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Удалили контейнер и думают, что образ тоже исчез.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50992" y="1783080"/>
            <a:ext cx="493776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4A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797296" y="1947672"/>
            <a:ext cx="146304" cy="630936"/>
          </a:xfrm>
          <a:prstGeom prst="round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0" y="1947672"/>
            <a:ext cx="438912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500" b="1">
                <a:solidFill>
                  <a:srgbClr val="0D1B2A"/>
                </a:solidFill>
                <a:latin typeface="Bahnschrift"/>
              </a:defRPr>
            </a:pPr>
            <a:r>
              <a:t>Забывают точку в build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2350008"/>
            <a:ext cx="4443984" cy="265176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Docker не видит контекст сборки и команда ломается.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2971800"/>
            <a:ext cx="493776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7C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4672" y="3136392"/>
            <a:ext cx="146304" cy="630936"/>
          </a:xfrm>
          <a:prstGeom prst="roundRect">
            <a:avLst/>
          </a:prstGeom>
          <a:solidFill>
            <a:srgbClr val="F7C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42415" y="3136392"/>
            <a:ext cx="438912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500" b="1">
                <a:solidFill>
                  <a:srgbClr val="0D1B2A"/>
                </a:solidFill>
                <a:latin typeface="Bahnschrift"/>
              </a:defRPr>
            </a:pPr>
            <a:r>
              <a:t>Переоценивают EXPOSE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5" y="3538728"/>
            <a:ext cx="4443984" cy="265176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Ожидают, что порт откроется без флага -p.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50992" y="2971800"/>
            <a:ext cx="493776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797296" y="3136392"/>
            <a:ext cx="146304" cy="630936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0" y="3136392"/>
            <a:ext cx="438912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500" b="1">
                <a:solidFill>
                  <a:srgbClr val="0D1B2A"/>
                </a:solidFill>
                <a:latin typeface="Bahnschrift"/>
              </a:defRPr>
            </a:pPr>
            <a:r>
              <a:t>Не пересобирают образ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3538728"/>
            <a:ext cx="4443984" cy="265176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Изменили HTML, а в браузере всё ещё старая страница.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160520"/>
            <a:ext cx="493776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4A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04672" y="4325112"/>
            <a:ext cx="146304" cy="630936"/>
          </a:xfrm>
          <a:prstGeom prst="round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42415" y="4325112"/>
            <a:ext cx="438912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500" b="1">
                <a:solidFill>
                  <a:srgbClr val="0D1B2A"/>
                </a:solidFill>
                <a:latin typeface="Bahnschrift"/>
              </a:defRPr>
            </a:pPr>
            <a:r>
              <a:t>Открывают не тот порт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5" y="4727448"/>
            <a:ext cx="4443984" cy="265176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В команде один порт, в браузере пытаются открыть другой.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50992" y="4160520"/>
            <a:ext cx="493776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7C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797296" y="4325112"/>
            <a:ext cx="146304" cy="630936"/>
          </a:xfrm>
          <a:prstGeom prst="roundRect">
            <a:avLst/>
          </a:prstGeom>
          <a:solidFill>
            <a:srgbClr val="F7C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35040" y="4325112"/>
            <a:ext cx="438912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500" b="1">
                <a:solidFill>
                  <a:srgbClr val="0D1B2A"/>
                </a:solidFill>
                <a:latin typeface="Bahnschrift"/>
              </a:defRPr>
            </a:pPr>
            <a:r>
              <a:t>Не читают текст ошибки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40" y="4727448"/>
            <a:ext cx="4443984" cy="265176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Говорят 'Docker не работает', не посмотрев сообщение терминала.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5532120"/>
            <a:ext cx="10844784" cy="530352"/>
          </a:xfrm>
          <a:prstGeom prst="roundRect">
            <a:avLst/>
          </a:prstGeom>
          <a:solidFill>
            <a:srgbClr val="0D1B2A"/>
          </a:solidFill>
          <a:ln w="15240">
            <a:solidFill>
              <a:srgbClr val="0D1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678424"/>
            <a:ext cx="10332720" cy="182880"/>
          </a:xfrm>
          <a:prstGeom prst="rect">
            <a:avLst/>
          </a:prstGeom>
          <a:noFill/>
        </p:spPr>
        <p:txBody>
          <a:bodyPr wrap="square" anchor="t" lIns="101600" tIns="76200" rIns="101600" bIns="7620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100" b="1">
                <a:solidFill>
                  <a:srgbClr val="F7F4EA"/>
                </a:solidFill>
                <a:latin typeface="Aptos"/>
              </a:defRPr>
            </a:pPr>
            <a:r>
              <a:t>Полезная формула для группы: сначала читаем текст ошибки, потом проверяем путь, имя, порт и контекст сборки.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777472" y="384048"/>
            <a:ext cx="146304" cy="530352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438912"/>
            <a:ext cx="2377440" cy="384048"/>
          </a:xfrm>
          <a:prstGeom prst="roundRect">
            <a:avLst/>
          </a:prstGeom>
          <a:solidFill>
            <a:srgbClr val="F7C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48056"/>
            <a:ext cx="2377440" cy="320040"/>
          </a:xfrm>
          <a:prstGeom prst="rect">
            <a:avLst/>
          </a:prstGeom>
          <a:noFill/>
        </p:spPr>
        <p:txBody>
          <a:bodyPr wrap="square" anchor="ctr" lIns="25400" tIns="0" rIns="25400" bIns="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0D1B2A"/>
                </a:solidFill>
                <a:latin typeface="Aptos"/>
              </a:defRPr>
            </a:pPr>
            <a:r>
              <a:t>Практика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22960"/>
            <a:ext cx="6766560" cy="749808"/>
          </a:xfrm>
          <a:prstGeom prst="rect">
            <a:avLst/>
          </a:prstGeom>
          <a:noFill/>
        </p:spPr>
        <p:txBody>
          <a:bodyPr wrap="square" anchor="t" lIns="101600" tIns="76200" rIns="101600" bIns="7620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2600" b="1">
                <a:solidFill>
                  <a:srgbClr val="F7F4EA"/>
                </a:solidFill>
                <a:latin typeface="Bahnschrift"/>
              </a:defRPr>
            </a:pPr>
            <a:r>
              <a:t>Практика: собираем свой образ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8412480" cy="502920"/>
          </a:xfrm>
          <a:prstGeom prst="rect">
            <a:avLst/>
          </a:prstGeom>
          <a:noFill/>
        </p:spPr>
        <p:txBody>
          <a:bodyPr wrap="square" anchor="t" lIns="101600" tIns="76200" rIns="101600" bIns="7620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E9DFC8"/>
                </a:solidFill>
                <a:latin typeface="Aptos"/>
              </a:defRPr>
            </a:pPr>
            <a:r>
              <a:t>Финальная часть урока: слушатели создают свою страницу, собирают образ и запускают контейнер.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6419088"/>
            <a:ext cx="10241280" cy="18288"/>
          </a:xfrm>
          <a:prstGeom prst="rect">
            <a:avLst/>
          </a:prstGeom>
          <a:solidFill>
            <a:srgbClr val="E9D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4512" y="6272784"/>
            <a:ext cx="64008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E9DFC8"/>
                </a:solidFill>
                <a:latin typeface="Bahnschrift"/>
              </a:defRPr>
            </a:pPr>
            <a:r>
              <a:t>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993392"/>
            <a:ext cx="2971800" cy="1051560"/>
          </a:xfrm>
          <a:prstGeom prst="roundRect">
            <a:avLst/>
          </a:prstGeom>
          <a:solidFill>
            <a:srgbClr val="F7F4EA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32688" y="2157984"/>
            <a:ext cx="420624" cy="38404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167128"/>
            <a:ext cx="420624" cy="320040"/>
          </a:xfrm>
          <a:prstGeom prst="rect">
            <a:avLst/>
          </a:prstGeom>
          <a:noFill/>
        </p:spPr>
        <p:txBody>
          <a:bodyPr wrap="square" anchor="ctr" lIns="25400" tIns="0" rIns="25400" bIns="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0D1B2A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9616" y="2157984"/>
            <a:ext cx="210312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400" b="1">
                <a:solidFill>
                  <a:srgbClr val="0D1B2A"/>
                </a:solidFill>
                <a:latin typeface="Bahnschrift"/>
              </a:defRPr>
            </a:pPr>
            <a:r>
              <a:t>Создать файлы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2523744"/>
            <a:ext cx="2606040" cy="38404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100" b="0">
                <a:solidFill>
                  <a:srgbClr val="102A43"/>
                </a:solidFill>
                <a:latin typeface="Aptos"/>
              </a:defRPr>
            </a:pPr>
            <a:r>
              <a:t>index.html, Dockerfile и папку app.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05072" y="1993392"/>
            <a:ext cx="2971800" cy="1051560"/>
          </a:xfrm>
          <a:prstGeom prst="roundRect">
            <a:avLst/>
          </a:prstGeom>
          <a:solidFill>
            <a:srgbClr val="F7F4EA"/>
          </a:solidFill>
          <a:ln w="15240">
            <a:solidFill>
              <a:srgbClr val="F4A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187952" y="2157984"/>
            <a:ext cx="420624" cy="384048"/>
          </a:xfrm>
          <a:prstGeom prst="round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87952" y="2167128"/>
            <a:ext cx="420624" cy="320040"/>
          </a:xfrm>
          <a:prstGeom prst="rect">
            <a:avLst/>
          </a:prstGeom>
          <a:noFill/>
        </p:spPr>
        <p:txBody>
          <a:bodyPr wrap="square" anchor="ctr" lIns="25400" tIns="0" rIns="25400" bIns="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0D1B2A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2157984"/>
            <a:ext cx="210312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400" b="1">
                <a:solidFill>
                  <a:srgbClr val="0D1B2A"/>
                </a:solidFill>
                <a:latin typeface="Bahnschrift"/>
              </a:defRPr>
            </a:pPr>
            <a:r>
              <a:t>Собрать image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87952" y="2523744"/>
            <a:ext cx="2606040" cy="38404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100" b="0">
                <a:solidFill>
                  <a:srgbClr val="102A43"/>
                </a:solidFill>
                <a:latin typeface="Aptos"/>
              </a:defRPr>
            </a:pPr>
            <a:r>
              <a:t>docker build -t lesson-site:1.0 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60336" y="1993392"/>
            <a:ext cx="2971800" cy="1051560"/>
          </a:xfrm>
          <a:prstGeom prst="roundRect">
            <a:avLst/>
          </a:prstGeom>
          <a:solidFill>
            <a:srgbClr val="F7F4EA"/>
          </a:solidFill>
          <a:ln w="15240">
            <a:solidFill>
              <a:srgbClr val="F7C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443216" y="2157984"/>
            <a:ext cx="420624" cy="384048"/>
          </a:xfrm>
          <a:prstGeom prst="roundRect">
            <a:avLst/>
          </a:prstGeom>
          <a:solidFill>
            <a:srgbClr val="F7C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43216" y="2167128"/>
            <a:ext cx="420624" cy="320040"/>
          </a:xfrm>
          <a:prstGeom prst="rect">
            <a:avLst/>
          </a:prstGeom>
          <a:noFill/>
        </p:spPr>
        <p:txBody>
          <a:bodyPr wrap="square" anchor="ctr" lIns="25400" tIns="0" rIns="25400" bIns="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0D1B2A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10144" y="2157984"/>
            <a:ext cx="210312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400" b="1">
                <a:solidFill>
                  <a:srgbClr val="0D1B2A"/>
                </a:solidFill>
                <a:latin typeface="Bahnschrift"/>
              </a:defRPr>
            </a:pPr>
            <a:r>
              <a:t>Запустить container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43216" y="2523744"/>
            <a:ext cx="2606040" cy="38404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100" b="0">
                <a:solidFill>
                  <a:srgbClr val="102A43"/>
                </a:solidFill>
                <a:latin typeface="Aptos"/>
              </a:defRPr>
            </a:pPr>
            <a:r>
              <a:t>docker run -d -p 8080:80 lesson-site:1.0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3154680"/>
            <a:ext cx="4160520" cy="2907792"/>
          </a:xfrm>
          <a:prstGeom prst="roundRect">
            <a:avLst/>
          </a:prstGeom>
          <a:solidFill>
            <a:srgbClr val="F7F4EA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3328416"/>
            <a:ext cx="320040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600" b="1">
                <a:solidFill>
                  <a:srgbClr val="0D1B2A"/>
                </a:solidFill>
                <a:latin typeface="Bahnschrift"/>
              </a:defRPr>
            </a:pPr>
            <a:r>
              <a:t>Структура практики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32688" y="3657600"/>
            <a:ext cx="3794760" cy="1188720"/>
          </a:xfrm>
          <a:prstGeom prst="roundRect">
            <a:avLst/>
          </a:prstGeom>
          <a:solidFill>
            <a:srgbClr val="0D1B2A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3803904"/>
            <a:ext cx="3465576" cy="914400"/>
          </a:xfrm>
          <a:prstGeom prst="rect">
            <a:avLst/>
          </a:prstGeom>
          <a:noFill/>
        </p:spPr>
        <p:txBody>
          <a:bodyPr wrap="square" anchor="t" lIns="50800" tIns="50800" rIns="50800" bIns="5080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  <a:defRPr sz="1080" b="0">
                <a:solidFill>
                  <a:srgbClr val="F7F4EA"/>
                </a:solidFill>
                <a:latin typeface="Consolas"/>
              </a:defRPr>
            </a:pPr>
            <a:r>
              <a:t>docker-lesson-1/</a:t>
            </a:r>
          </a:p>
          <a:p>
            <a:pPr algn="l">
              <a:lnSpc>
                <a:spcPct val="110000"/>
              </a:lnSpc>
              <a:spcAft>
                <a:spcPts val="300"/>
              </a:spcAft>
              <a:defRPr sz="1080" b="0">
                <a:solidFill>
                  <a:srgbClr val="F7F4EA"/>
                </a:solidFill>
                <a:latin typeface="Consolas"/>
              </a:defRPr>
            </a:pPr>
            <a:r>
              <a:t>  app/</a:t>
            </a:r>
          </a:p>
          <a:p>
            <a:pPr algn="l">
              <a:lnSpc>
                <a:spcPct val="110000"/>
              </a:lnSpc>
              <a:spcAft>
                <a:spcPts val="300"/>
              </a:spcAft>
              <a:defRPr sz="1080" b="0">
                <a:solidFill>
                  <a:srgbClr val="F7F4EA"/>
                </a:solidFill>
                <a:latin typeface="Consolas"/>
              </a:defRPr>
            </a:pPr>
            <a:r>
              <a:t>    index.html</a:t>
            </a:r>
          </a:p>
          <a:p>
            <a:pPr algn="l">
              <a:lnSpc>
                <a:spcPct val="110000"/>
              </a:lnSpc>
              <a:spcAft>
                <a:spcPts val="300"/>
              </a:spcAft>
              <a:defRPr sz="1080" b="0">
                <a:solidFill>
                  <a:srgbClr val="F7F4EA"/>
                </a:solidFill>
                <a:latin typeface="Consolas"/>
              </a:defRPr>
            </a:pPr>
            <a:r>
              <a:t>  Dockerfile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32688" y="4956048"/>
            <a:ext cx="3794760" cy="987552"/>
          </a:xfrm>
          <a:prstGeom prst="roundRect">
            <a:avLst/>
          </a:prstGeom>
          <a:solidFill>
            <a:srgbClr val="0D1B2A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5102352"/>
            <a:ext cx="3465576" cy="713232"/>
          </a:xfrm>
          <a:prstGeom prst="rect">
            <a:avLst/>
          </a:prstGeom>
          <a:noFill/>
        </p:spPr>
        <p:txBody>
          <a:bodyPr wrap="square" anchor="t" lIns="50800" tIns="50800" rIns="50800" bIns="5080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  <a:defRPr sz="980" b="0">
                <a:solidFill>
                  <a:srgbClr val="F7F4EA"/>
                </a:solidFill>
                <a:latin typeface="Consolas"/>
              </a:defRPr>
            </a:pPr>
            <a:r>
              <a:t>FROM nginx:stable-alpine</a:t>
            </a:r>
          </a:p>
          <a:p>
            <a:pPr algn="l">
              <a:lnSpc>
                <a:spcPct val="110000"/>
              </a:lnSpc>
              <a:spcAft>
                <a:spcPts val="300"/>
              </a:spcAft>
              <a:defRPr sz="980" b="0">
                <a:solidFill>
                  <a:srgbClr val="F7F4EA"/>
                </a:solidFill>
                <a:latin typeface="Consolas"/>
              </a:defRPr>
            </a:pPr>
            <a:r>
              <a:t>COPY app/index.html /usr/share/nginx/html/index.html</a:t>
            </a:r>
          </a:p>
          <a:p>
            <a:pPr algn="l">
              <a:lnSpc>
                <a:spcPct val="110000"/>
              </a:lnSpc>
              <a:spcAft>
                <a:spcPts val="300"/>
              </a:spcAft>
              <a:defRPr sz="980" b="0">
                <a:solidFill>
                  <a:srgbClr val="F7F4EA"/>
                </a:solidFill>
                <a:latin typeface="Consolas"/>
              </a:defRPr>
            </a:pPr>
            <a:r>
              <a:t>EXPOSE 80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166360" y="3154680"/>
            <a:ext cx="6126480" cy="2907792"/>
          </a:xfrm>
          <a:prstGeom prst="roundRect">
            <a:avLst/>
          </a:prstGeom>
          <a:solidFill>
            <a:srgbClr val="F7F4EA"/>
          </a:solidFill>
          <a:ln w="15240">
            <a:solidFill>
              <a:srgbClr val="F7C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13248" y="3328416"/>
            <a:ext cx="329184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600" b="1">
                <a:solidFill>
                  <a:srgbClr val="0D1B2A"/>
                </a:solidFill>
                <a:latin typeface="Bahnschrift"/>
              </a:defRPr>
            </a:pPr>
            <a:r>
              <a:t>Команды и результат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13248" y="3657600"/>
            <a:ext cx="5486400" cy="1078992"/>
          </a:xfrm>
          <a:prstGeom prst="roundRect">
            <a:avLst/>
          </a:prstGeom>
          <a:solidFill>
            <a:srgbClr val="0D1B2A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77840" y="3803904"/>
            <a:ext cx="5157216" cy="804671"/>
          </a:xfrm>
          <a:prstGeom prst="rect">
            <a:avLst/>
          </a:prstGeom>
          <a:noFill/>
        </p:spPr>
        <p:txBody>
          <a:bodyPr wrap="square" anchor="t" lIns="50800" tIns="50800" rIns="50800" bIns="5080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  <a:defRPr sz="1080" b="0">
                <a:solidFill>
                  <a:srgbClr val="F7F4EA"/>
                </a:solidFill>
                <a:latin typeface="Consolas"/>
              </a:defRPr>
            </a:pPr>
            <a:r>
              <a:t>docker build -t lesson-site:1.0 .</a:t>
            </a:r>
          </a:p>
          <a:p>
            <a:pPr algn="l">
              <a:lnSpc>
                <a:spcPct val="110000"/>
              </a:lnSpc>
              <a:spcAft>
                <a:spcPts val="300"/>
              </a:spcAft>
              <a:defRPr sz="1080" b="0">
                <a:solidFill>
                  <a:srgbClr val="F7F4EA"/>
                </a:solidFill>
                <a:latin typeface="Consolas"/>
              </a:defRPr>
            </a:pPr>
          </a:p>
          <a:p>
            <a:pPr algn="l">
              <a:lnSpc>
                <a:spcPct val="110000"/>
              </a:lnSpc>
              <a:spcAft>
                <a:spcPts val="300"/>
              </a:spcAft>
              <a:defRPr sz="1080" b="0">
                <a:solidFill>
                  <a:srgbClr val="F7F4EA"/>
                </a:solidFill>
                <a:latin typeface="Consolas"/>
              </a:defRPr>
            </a:pPr>
            <a:r>
              <a:t>docker run -d --name lesson-site -p 8080:80 lesson-site:1.0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13248" y="4882896"/>
            <a:ext cx="5486400" cy="7863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50992" y="4992624"/>
            <a:ext cx="1234440" cy="146304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930" b="1">
                <a:solidFill>
                  <a:srgbClr val="2A9D8F"/>
                </a:solidFill>
                <a:latin typeface="Aptos"/>
              </a:defRPr>
            </a:pPr>
            <a:r>
              <a:t>Результат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50992" y="5175504"/>
            <a:ext cx="4800600" cy="1828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100" b="1">
                <a:solidFill>
                  <a:srgbClr val="0D1B2A"/>
                </a:solidFill>
                <a:latin typeface="Aptos"/>
              </a:defRPr>
            </a:pPr>
            <a:r>
              <a:t>Открывается своя страница на http://localhost:8080.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50992" y="5413248"/>
            <a:ext cx="4800600" cy="146304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919" b="0">
                <a:solidFill>
                  <a:srgbClr val="6C7A89"/>
                </a:solidFill>
                <a:latin typeface="Aptos"/>
              </a:defRPr>
            </a:pPr>
            <a:r>
              <a:t>После изменения index.html образ нужно пересобрать.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777472" y="384048"/>
            <a:ext cx="146304" cy="530352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438912"/>
            <a:ext cx="2377440" cy="384048"/>
          </a:xfrm>
          <a:prstGeom prst="roundRect">
            <a:avLst/>
          </a:prstGeom>
          <a:solidFill>
            <a:srgbClr val="F7C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48056"/>
            <a:ext cx="2377440" cy="320040"/>
          </a:xfrm>
          <a:prstGeom prst="rect">
            <a:avLst/>
          </a:prstGeom>
          <a:noFill/>
        </p:spPr>
        <p:txBody>
          <a:bodyPr wrap="square" anchor="ctr" lIns="25400" tIns="0" rIns="25400" bIns="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0D1B2A"/>
                </a:solidFill>
                <a:latin typeface="Aptos"/>
              </a:defRPr>
            </a:pPr>
            <a:r>
              <a:t>Самостоятельная практика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22960"/>
            <a:ext cx="6766560" cy="749808"/>
          </a:xfrm>
          <a:prstGeom prst="rect">
            <a:avLst/>
          </a:prstGeom>
          <a:noFill/>
        </p:spPr>
        <p:txBody>
          <a:bodyPr wrap="square" anchor="t" lIns="101600" tIns="76200" rIns="101600" bIns="7620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2600" b="1">
                <a:solidFill>
                  <a:srgbClr val="F7F4EA"/>
                </a:solidFill>
                <a:latin typeface="Bahnschrift"/>
              </a:defRPr>
            </a:pPr>
            <a:r>
              <a:t>Мини-кейс: найдите и исправьте ошибку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8412480" cy="502920"/>
          </a:xfrm>
          <a:prstGeom prst="rect">
            <a:avLst/>
          </a:prstGeom>
          <a:noFill/>
        </p:spPr>
        <p:txBody>
          <a:bodyPr wrap="square" anchor="t" lIns="101600" tIns="76200" rIns="101600" bIns="7620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E9DFC8"/>
                </a:solidFill>
                <a:latin typeface="Aptos"/>
              </a:defRPr>
            </a:pPr>
            <a:r>
              <a:t>Здесь группа выходит из режима повтора и впервые решает маленькую проблему самостоятельно.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6419088"/>
            <a:ext cx="10241280" cy="18288"/>
          </a:xfrm>
          <a:prstGeom prst="rect">
            <a:avLst/>
          </a:prstGeom>
          <a:solidFill>
            <a:srgbClr val="E9D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4512" y="6272784"/>
            <a:ext cx="64008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E9DFC8"/>
                </a:solidFill>
                <a:latin typeface="Bahnschrift"/>
              </a:defRPr>
            </a:pPr>
            <a:r>
              <a:t>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783080"/>
            <a:ext cx="4709160" cy="3246120"/>
          </a:xfrm>
          <a:prstGeom prst="roundRect">
            <a:avLst/>
          </a:prstGeom>
          <a:solidFill>
            <a:srgbClr val="1B263B"/>
          </a:solidFill>
          <a:ln w="15240">
            <a:solidFill>
              <a:srgbClr val="53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929384"/>
            <a:ext cx="4379976" cy="2971800"/>
          </a:xfrm>
          <a:prstGeom prst="rect">
            <a:avLst/>
          </a:prstGeom>
          <a:noFill/>
        </p:spPr>
        <p:txBody>
          <a:bodyPr wrap="square" anchor="t" lIns="50800" tIns="50800" rIns="50800" bIns="5080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  <a:defRPr sz="1200" b="0">
                <a:solidFill>
                  <a:srgbClr val="F7F4EA"/>
                </a:solidFill>
                <a:latin typeface="Consolas"/>
              </a:defRPr>
            </a:pPr>
            <a:r>
              <a:t>FROM nginx:stable-alpine</a:t>
            </a:r>
          </a:p>
          <a:p>
            <a:pPr algn="l">
              <a:lnSpc>
                <a:spcPct val="110000"/>
              </a:lnSpc>
              <a:spcAft>
                <a:spcPts val="300"/>
              </a:spcAft>
              <a:defRPr sz="1200" b="0">
                <a:solidFill>
                  <a:srgbClr val="F7F4EA"/>
                </a:solidFill>
                <a:latin typeface="Consolas"/>
              </a:defRPr>
            </a:pPr>
            <a:r>
              <a:t>COPY app/home.html /usr/share/nginx/html/index.html</a:t>
            </a:r>
          </a:p>
          <a:p>
            <a:pPr algn="l">
              <a:lnSpc>
                <a:spcPct val="110000"/>
              </a:lnSpc>
              <a:spcAft>
                <a:spcPts val="300"/>
              </a:spcAft>
              <a:defRPr sz="1200" b="0">
                <a:solidFill>
                  <a:srgbClr val="F7F4EA"/>
                </a:solidFill>
                <a:latin typeface="Consolas"/>
              </a:defRPr>
            </a:pPr>
            <a:r>
              <a:t>EXPOSE 80</a:t>
            </a:r>
          </a:p>
          <a:p>
            <a:pPr algn="l">
              <a:lnSpc>
                <a:spcPct val="110000"/>
              </a:lnSpc>
              <a:spcAft>
                <a:spcPts val="300"/>
              </a:spcAft>
              <a:defRPr sz="1200" b="0">
                <a:solidFill>
                  <a:srgbClr val="F7F4EA"/>
                </a:solidFill>
                <a:latin typeface="Consolas"/>
              </a:defRPr>
            </a:pPr>
            <a:r>
              <a:t>CMD ["nginx", "-g", "daemon off;"]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06440" y="1783080"/>
            <a:ext cx="5577840" cy="1417320"/>
          </a:xfrm>
          <a:prstGeom prst="roundRect">
            <a:avLst/>
          </a:prstGeom>
          <a:solidFill>
            <a:srgbClr val="F7F4EA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952744" y="1947672"/>
            <a:ext cx="146304" cy="1088136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0488" y="1947672"/>
            <a:ext cx="502920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500" b="1">
                <a:solidFill>
                  <a:srgbClr val="0D1B2A"/>
                </a:solidFill>
                <a:latin typeface="Bahnschrift"/>
              </a:defRPr>
            </a:pPr>
            <a:r>
              <a:t>Что дать группе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0488" y="2350008"/>
            <a:ext cx="5084064" cy="722376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Папку с почти правильным проектом. Ошибка одна и намеренная. Задача: попробовать собрать образ, прочитать сообщение и найти причину.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06440" y="3429000"/>
            <a:ext cx="5577840" cy="1417320"/>
          </a:xfrm>
          <a:prstGeom prst="roundRect">
            <a:avLst/>
          </a:prstGeom>
          <a:solidFill>
            <a:srgbClr val="F7F4EA"/>
          </a:solidFill>
          <a:ln w="15240">
            <a:solidFill>
              <a:srgbClr val="F4A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52744" y="3593592"/>
            <a:ext cx="146304" cy="1088136"/>
          </a:xfrm>
          <a:prstGeom prst="round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90488" y="3593592"/>
            <a:ext cx="502920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500" b="1">
                <a:solidFill>
                  <a:srgbClr val="0D1B2A"/>
                </a:solidFill>
                <a:latin typeface="Bahnschrift"/>
              </a:defRPr>
            </a:pPr>
            <a:r>
              <a:t>Какие вопросы задавать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0488" y="3995928"/>
            <a:ext cx="5084064" cy="722376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• Что пишет терминал?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• На какой строке проблема?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102A43"/>
                </a:solidFill>
                <a:latin typeface="Aptos"/>
              </a:defRPr>
            </a:pPr>
            <a:r>
              <a:t>• Существует ли файл, указанный в COPY?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5358384"/>
            <a:ext cx="10634472" cy="566928"/>
          </a:xfrm>
          <a:prstGeom prst="roundRect">
            <a:avLst/>
          </a:prstGeom>
          <a:solidFill>
            <a:srgbClr val="1B263B"/>
          </a:solidFill>
          <a:ln w="15240">
            <a:solidFill>
              <a:srgbClr val="53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" y="5522976"/>
            <a:ext cx="10149840" cy="182880"/>
          </a:xfrm>
          <a:prstGeom prst="rect">
            <a:avLst/>
          </a:prstGeom>
          <a:noFill/>
        </p:spPr>
        <p:txBody>
          <a:bodyPr wrap="square" anchor="t" lIns="101600" tIns="76200" rIns="101600" bIns="7620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100" b="1">
                <a:solidFill>
                  <a:srgbClr val="F7F4EA"/>
                </a:solidFill>
                <a:latin typeface="Aptos"/>
              </a:defRPr>
            </a:pPr>
            <a:r>
              <a:t>Главный вывод: первые ошибки в Docker чаще всего не магические, а буквальные и читаются по сообщению терминала.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41480" y="566928"/>
            <a:ext cx="91440" cy="5074920"/>
          </a:xfrm>
          <a:prstGeom prst="rect">
            <a:avLst/>
          </a:prstGeom>
          <a:solidFill>
            <a:srgbClr val="CFE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438912"/>
            <a:ext cx="2377440" cy="384048"/>
          </a:xfrm>
          <a:prstGeom prst="round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48056"/>
            <a:ext cx="2377440" cy="320040"/>
          </a:xfrm>
          <a:prstGeom prst="rect">
            <a:avLst/>
          </a:prstGeom>
          <a:noFill/>
        </p:spPr>
        <p:txBody>
          <a:bodyPr wrap="square" anchor="ctr" lIns="25400" tIns="0" rIns="25400" bIns="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Итоги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22960"/>
            <a:ext cx="6766560" cy="749808"/>
          </a:xfrm>
          <a:prstGeom prst="rect">
            <a:avLst/>
          </a:prstGeom>
          <a:noFill/>
        </p:spPr>
        <p:txBody>
          <a:bodyPr wrap="square" anchor="t" lIns="101600" tIns="76200" rIns="101600" bIns="7620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2600" b="1">
                <a:solidFill>
                  <a:srgbClr val="0D1B2A"/>
                </a:solidFill>
                <a:latin typeface="Bahnschrift"/>
              </a:defRPr>
            </a:pPr>
            <a:r>
              <a:t>После урока слушатель умеет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8412480" cy="502920"/>
          </a:xfrm>
          <a:prstGeom prst="rect">
            <a:avLst/>
          </a:prstGeom>
          <a:noFill/>
        </p:spPr>
        <p:txBody>
          <a:bodyPr wrap="square" anchor="t" lIns="101600" tIns="76200" rIns="101600" bIns="7620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6C7A89"/>
                </a:solidFill>
                <a:latin typeface="Aptos"/>
              </a:defRPr>
            </a:pPr>
            <a:r>
              <a:t>Этим слайдом удобно завершить основной рассказ и зафиксировать получившиеся навыки.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6419088"/>
            <a:ext cx="10241280" cy="18288"/>
          </a:xfrm>
          <a:prstGeom prst="rect">
            <a:avLst/>
          </a:prstGeom>
          <a:solidFill>
            <a:srgbClr val="CBD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4512" y="6272784"/>
            <a:ext cx="64008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6C7A89"/>
                </a:solidFill>
                <a:latin typeface="Bahnschrift"/>
              </a:defRPr>
            </a:pPr>
            <a:r>
              <a:t>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292608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59" y="1947672"/>
            <a:ext cx="841248" cy="38404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956815"/>
            <a:ext cx="841248" cy="320040"/>
          </a:xfrm>
          <a:prstGeom prst="rect">
            <a:avLst/>
          </a:prstGeom>
          <a:noFill/>
        </p:spPr>
        <p:txBody>
          <a:bodyPr wrap="square" anchor="ctr" lIns="25400" tIns="0" rIns="25400" bIns="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Объяснить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2404872"/>
            <a:ext cx="2514600" cy="310896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150" b="0">
                <a:solidFill>
                  <a:srgbClr val="102A43"/>
                </a:solidFill>
                <a:latin typeface="Aptos"/>
              </a:defRPr>
            </a:pPr>
            <a:r>
              <a:t>что такое контейнеризация и зачем она нужна.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13632" y="1783080"/>
            <a:ext cx="292608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4A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078224" y="1947672"/>
            <a:ext cx="841248" cy="384048"/>
          </a:xfrm>
          <a:prstGeom prst="round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78224" y="1956815"/>
            <a:ext cx="841248" cy="320040"/>
          </a:xfrm>
          <a:prstGeom prst="rect">
            <a:avLst/>
          </a:prstGeom>
          <a:noFill/>
        </p:spPr>
        <p:txBody>
          <a:bodyPr wrap="square" anchor="ctr" lIns="25400" tIns="0" rIns="25400" bIns="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0D1B2A"/>
                </a:solidFill>
                <a:latin typeface="Aptos"/>
              </a:defRPr>
            </a:pPr>
            <a:r>
              <a:t>Различать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2404872"/>
            <a:ext cx="2514600" cy="310896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150" b="0">
                <a:solidFill>
                  <a:srgbClr val="102A43"/>
                </a:solidFill>
                <a:latin typeface="Aptos"/>
              </a:defRPr>
            </a:pPr>
            <a:r>
              <a:t>image, container, registry и Dockerfile.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68896" y="1783080"/>
            <a:ext cx="292608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7C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33488" y="1947672"/>
            <a:ext cx="841248" cy="384048"/>
          </a:xfrm>
          <a:prstGeom prst="roundRect">
            <a:avLst/>
          </a:prstGeom>
          <a:solidFill>
            <a:srgbClr val="F7C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33488" y="1956815"/>
            <a:ext cx="841248" cy="320040"/>
          </a:xfrm>
          <a:prstGeom prst="rect">
            <a:avLst/>
          </a:prstGeom>
          <a:noFill/>
        </p:spPr>
        <p:txBody>
          <a:bodyPr wrap="square" anchor="ctr" lIns="25400" tIns="0" rIns="25400" bIns="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0D1B2A"/>
                </a:solidFill>
                <a:latin typeface="Aptos"/>
              </a:defRPr>
            </a:pPr>
            <a:r>
              <a:t>Описать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70064" y="2404872"/>
            <a:ext cx="2514600" cy="310896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150" b="0">
                <a:solidFill>
                  <a:srgbClr val="102A43"/>
                </a:solidFill>
                <a:latin typeface="Aptos"/>
              </a:defRPr>
            </a:pPr>
            <a:r>
              <a:t>роль CLI, daemon, Engine и runtime.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429000"/>
            <a:ext cx="292608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4A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2959" y="3593592"/>
            <a:ext cx="841248" cy="384048"/>
          </a:xfrm>
          <a:prstGeom prst="round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59" y="3602736"/>
            <a:ext cx="841248" cy="320040"/>
          </a:xfrm>
          <a:prstGeom prst="rect">
            <a:avLst/>
          </a:prstGeom>
          <a:noFill/>
        </p:spPr>
        <p:txBody>
          <a:bodyPr wrap="square" anchor="ctr" lIns="25400" tIns="0" rIns="25400" bIns="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0D1B2A"/>
                </a:solidFill>
                <a:latin typeface="Aptos"/>
              </a:defRPr>
            </a:pPr>
            <a:r>
              <a:t>Понимать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" y="4050791"/>
            <a:ext cx="2514600" cy="310896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150" b="0">
                <a:solidFill>
                  <a:srgbClr val="102A43"/>
                </a:solidFill>
                <a:latin typeface="Aptos"/>
              </a:defRPr>
            </a:pPr>
            <a:r>
              <a:t>бытовую идею namespaces и cgroups.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913632" y="3429000"/>
            <a:ext cx="292608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078224" y="3593592"/>
            <a:ext cx="841248" cy="38404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78224" y="3602736"/>
            <a:ext cx="841248" cy="320040"/>
          </a:xfrm>
          <a:prstGeom prst="rect">
            <a:avLst/>
          </a:prstGeom>
          <a:noFill/>
        </p:spPr>
        <p:txBody>
          <a:bodyPr wrap="square" anchor="ctr" lIns="25400" tIns="0" rIns="25400" bIns="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Запускать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4050791"/>
            <a:ext cx="2514600" cy="310896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150" b="0">
                <a:solidFill>
                  <a:srgbClr val="102A43"/>
                </a:solidFill>
                <a:latin typeface="Aptos"/>
              </a:defRPr>
            </a:pPr>
            <a:r>
              <a:t>готовый контейнер и смотреть его логи.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68896" y="3429000"/>
            <a:ext cx="292608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7C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333488" y="3593592"/>
            <a:ext cx="841248" cy="384048"/>
          </a:xfrm>
          <a:prstGeom prst="roundRect">
            <a:avLst/>
          </a:prstGeom>
          <a:solidFill>
            <a:srgbClr val="F7C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33488" y="3602736"/>
            <a:ext cx="841248" cy="320040"/>
          </a:xfrm>
          <a:prstGeom prst="rect">
            <a:avLst/>
          </a:prstGeom>
          <a:noFill/>
        </p:spPr>
        <p:txBody>
          <a:bodyPr wrap="square" anchor="ctr" lIns="25400" tIns="0" rIns="25400" bIns="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0D1B2A"/>
                </a:solidFill>
                <a:latin typeface="Aptos"/>
              </a:defRPr>
            </a:pPr>
            <a:r>
              <a:t>Собирать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70064" y="4050791"/>
            <a:ext cx="2514600" cy="310896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150" b="0">
                <a:solidFill>
                  <a:srgbClr val="102A43"/>
                </a:solidFill>
                <a:latin typeface="Aptos"/>
              </a:defRPr>
            </a:pPr>
            <a:r>
              <a:t>свой образ через docker build.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5321808"/>
            <a:ext cx="10844784" cy="658368"/>
          </a:xfrm>
          <a:prstGeom prst="roundRect">
            <a:avLst/>
          </a:prstGeom>
          <a:solidFill>
            <a:srgbClr val="0D1B2A"/>
          </a:solidFill>
          <a:ln w="15240">
            <a:solidFill>
              <a:srgbClr val="0D1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513832"/>
            <a:ext cx="10241280" cy="228600"/>
          </a:xfrm>
          <a:prstGeom prst="rect">
            <a:avLst/>
          </a:prstGeom>
          <a:noFill/>
        </p:spPr>
        <p:txBody>
          <a:bodyPr wrap="square" anchor="t" lIns="101600" tIns="76200" rIns="101600" bIns="7620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100" b="1">
                <a:solidFill>
                  <a:srgbClr val="F7F4EA"/>
                </a:solidFill>
                <a:latin typeface="Aptos"/>
              </a:defRPr>
            </a:pPr>
            <a:r>
              <a:t>Типичные ошибки новичка: путать image и container, забывать проброс порта, менять файлы без пересборки образа.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777472" y="384048"/>
            <a:ext cx="146304" cy="530352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438912"/>
            <a:ext cx="2377440" cy="384048"/>
          </a:xfrm>
          <a:prstGeom prst="roundRect">
            <a:avLst/>
          </a:prstGeom>
          <a:solidFill>
            <a:srgbClr val="F7C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48056"/>
            <a:ext cx="2377440" cy="320040"/>
          </a:xfrm>
          <a:prstGeom prst="rect">
            <a:avLst/>
          </a:prstGeom>
          <a:noFill/>
        </p:spPr>
        <p:txBody>
          <a:bodyPr wrap="square" anchor="ctr" lIns="25400" tIns="0" rIns="25400" bIns="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0D1B2A"/>
                </a:solidFill>
                <a:latin typeface="Aptos"/>
              </a:defRPr>
            </a:pPr>
            <a:r>
              <a:t>Финиш урока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22960"/>
            <a:ext cx="6766560" cy="749808"/>
          </a:xfrm>
          <a:prstGeom prst="rect">
            <a:avLst/>
          </a:prstGeom>
          <a:noFill/>
        </p:spPr>
        <p:txBody>
          <a:bodyPr wrap="square" anchor="t" lIns="101600" tIns="76200" rIns="101600" bIns="7620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2600" b="1">
                <a:solidFill>
                  <a:srgbClr val="F7F4EA"/>
                </a:solidFill>
                <a:latin typeface="Bahnschrift"/>
              </a:defRPr>
            </a:pPr>
            <a:r>
              <a:t>Проверка понимания и домашнее задание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8412480" cy="502920"/>
          </a:xfrm>
          <a:prstGeom prst="rect">
            <a:avLst/>
          </a:prstGeom>
          <a:noFill/>
        </p:spPr>
        <p:txBody>
          <a:bodyPr wrap="square" anchor="t" lIns="101600" tIns="76200" rIns="101600" bIns="7620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200" b="0">
                <a:solidFill>
                  <a:srgbClr val="E9DFC8"/>
                </a:solidFill>
                <a:latin typeface="Aptos"/>
              </a:defRPr>
            </a:pPr>
            <a:r>
              <a:t>Финал урока: быстро проверить понимание, а затем дать маленький законченный практический кейс.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6419088"/>
            <a:ext cx="10241280" cy="18288"/>
          </a:xfrm>
          <a:prstGeom prst="rect">
            <a:avLst/>
          </a:prstGeom>
          <a:solidFill>
            <a:srgbClr val="E9D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4512" y="6272784"/>
            <a:ext cx="64008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300"/>
              </a:spcAft>
              <a:defRPr sz="1000" b="1">
                <a:solidFill>
                  <a:srgbClr val="E9DFC8"/>
                </a:solidFill>
                <a:latin typeface="Bahnschrift"/>
              </a:defRPr>
            </a:pPr>
            <a:r>
              <a:t>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965960"/>
            <a:ext cx="5074920" cy="3931920"/>
          </a:xfrm>
          <a:prstGeom prst="roundRect">
            <a:avLst/>
          </a:prstGeom>
          <a:solidFill>
            <a:srgbClr val="F7F4EA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1965960"/>
            <a:ext cx="5074920" cy="3931920"/>
          </a:xfrm>
          <a:prstGeom prst="roundRect">
            <a:avLst/>
          </a:prstGeom>
          <a:solidFill>
            <a:srgbClr val="F7F4EA"/>
          </a:solidFill>
          <a:ln w="15240">
            <a:solidFill>
              <a:srgbClr val="F4A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084831"/>
            <a:ext cx="256032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700" b="1">
                <a:solidFill>
                  <a:srgbClr val="0D1B2A"/>
                </a:solidFill>
                <a:latin typeface="Bahnschrift"/>
              </a:defRPr>
            </a:pPr>
            <a:r>
              <a:t>Контрольные вопросы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2450592"/>
            <a:ext cx="4526280" cy="29260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300" b="0">
                <a:solidFill>
                  <a:srgbClr val="102A43"/>
                </a:solidFill>
                <a:latin typeface="Aptos"/>
              </a:defRPr>
            </a:pPr>
            <a:r>
              <a:t>1. Что такое контейнеризация и какую проблему она решает?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300" b="0">
                <a:solidFill>
                  <a:srgbClr val="102A43"/>
                </a:solidFill>
                <a:latin typeface="Aptos"/>
              </a:defRPr>
            </a:pPr>
            <a:r>
              <a:t>2. Чем container отличается от image?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300" b="0">
                <a:solidFill>
                  <a:srgbClr val="102A43"/>
                </a:solidFill>
                <a:latin typeface="Aptos"/>
              </a:defRPr>
            </a:pPr>
            <a:r>
              <a:t>3. Какую роль играют namespaces?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300" b="0">
                <a:solidFill>
                  <a:srgbClr val="102A43"/>
                </a:solidFill>
                <a:latin typeface="Aptos"/>
              </a:defRPr>
            </a:pPr>
            <a:r>
              <a:t>4. Для чего нужны cgroups?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300" b="0">
                <a:solidFill>
                  <a:srgbClr val="102A43"/>
                </a:solidFill>
                <a:latin typeface="Aptos"/>
              </a:defRPr>
            </a:pPr>
            <a:r>
              <a:t>5. Что описывает Dockerfile?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300" b="0">
                <a:solidFill>
                  <a:srgbClr val="102A43"/>
                </a:solidFill>
                <a:latin typeface="Aptos"/>
              </a:defRPr>
            </a:pPr>
            <a:r>
              <a:t>6. Что произойдёт после docker build?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5664" y="2084831"/>
            <a:ext cx="256032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700" b="1">
                <a:solidFill>
                  <a:srgbClr val="0D1B2A"/>
                </a:solidFill>
                <a:latin typeface="Bahnschrift"/>
              </a:defRPr>
            </a:pPr>
            <a:r>
              <a:t>Домашнее задание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5664" y="2450592"/>
            <a:ext cx="4526280" cy="29260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300" b="0">
                <a:solidFill>
                  <a:srgbClr val="102A43"/>
                </a:solidFill>
                <a:latin typeface="Aptos"/>
              </a:defRPr>
            </a:pPr>
            <a:r>
              <a:t>1. Создать свою HTML-страницу.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300" b="0">
                <a:solidFill>
                  <a:srgbClr val="102A43"/>
                </a:solidFill>
                <a:latin typeface="Aptos"/>
              </a:defRPr>
            </a:pPr>
            <a:r>
              <a:t>2. Написать Dockerfile на базе nginx.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300" b="0">
                <a:solidFill>
                  <a:srgbClr val="102A43"/>
                </a:solidFill>
                <a:latin typeface="Aptos"/>
              </a:defRPr>
            </a:pPr>
            <a:r>
              <a:t>3. Собрать образ и запустить контейнер на локальном порту.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300" b="0">
                <a:solidFill>
                  <a:srgbClr val="102A43"/>
                </a:solidFill>
                <a:latin typeface="Aptos"/>
              </a:defRPr>
            </a:pPr>
            <a:r>
              <a:t>4. Подготовить скриншот страницы и текст Dockerfile.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300" b="0">
                <a:solidFill>
                  <a:srgbClr val="102A43"/>
                </a:solidFill>
                <a:latin typeface="Aptos"/>
              </a:defRPr>
            </a:pPr>
            <a:r>
              <a:t>5. По желанию: сменить тег образа и имя контейнера.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943600"/>
            <a:ext cx="10149840" cy="20116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  <a:defRPr sz="950" b="0">
                <a:solidFill>
                  <a:srgbClr val="E9DFC8"/>
                </a:solidFill>
                <a:latin typeface="Aptos"/>
              </a:defRPr>
            </a:pPr>
            <a:r>
              <a:t>Следующий урок: Docker volumes, Networks in Docker, инспекция Docker и логирование, multi-stage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