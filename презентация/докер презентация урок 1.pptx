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512064"/>
            <a:ext cx="26060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521208"/>
            <a:ext cx="26060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Урок для начинающих ИТ-специалистов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5760720" cy="14173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800" b="1">
                <a:solidFill>
                  <a:srgbClr val="F7F4EA"/>
                </a:solidFill>
                <a:latin typeface="Bahnschrift"/>
              </a:defRPr>
            </a:pPr>
            <a:r>
              <a:t>Docker и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2800" b="1">
                <a:solidFill>
                  <a:srgbClr val="F7F4EA"/>
                </a:solidFill>
                <a:latin typeface="Bahnschrift"/>
              </a:defRPr>
            </a:pPr>
            <a:r>
              <a:t>контейнеризация 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670048"/>
            <a:ext cx="521208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E9DFC8"/>
                </a:solidFill>
                <a:latin typeface="Aptos"/>
              </a:defRPr>
            </a:pPr>
            <a:r>
              <a:t>Контейнеры, Docker Engine, изоляция и первый Dockerfile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694176"/>
            <a:ext cx="1097280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3703320"/>
            <a:ext cx="109728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Теория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01952" y="3694176"/>
            <a:ext cx="1417320" cy="384048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01952" y="3703320"/>
            <a:ext cx="141732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Демонстрация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3694176"/>
            <a:ext cx="1170432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56432" y="3703320"/>
            <a:ext cx="1170432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Практика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754880"/>
            <a:ext cx="5166360" cy="1051560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4956048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7C873"/>
                </a:solidFill>
                <a:latin typeface="Aptos"/>
              </a:defRPr>
            </a:pPr>
            <a:r>
              <a:t>Результат урока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193792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Aptos"/>
              </a:defRPr>
            </a:pPr>
            <a:r>
              <a:t>Слушатели понимают, зачем нужна контейнеризация, и умеют собрать первый образ.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84718" y="1005840"/>
            <a:ext cx="3291840" cy="621792"/>
          </a:xfrm>
          <a:prstGeom prst="roundRect">
            <a:avLst/>
          </a:prstGeom>
          <a:solidFill>
            <a:srgbClr val="2A9D8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84718" y="1106424"/>
            <a:ext cx="3291840" cy="512064"/>
          </a:xfrm>
          <a:prstGeom prst="rect">
            <a:avLst/>
          </a:prstGeom>
          <a:noFill/>
        </p:spPr>
        <p:txBody>
          <a:bodyPr wrap="square" lIns="101600" tIns="76200" rIns="101600" bIns="762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Исходный код приложения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10398" y="1783080"/>
            <a:ext cx="3840480" cy="658368"/>
          </a:xfrm>
          <a:prstGeom prst="roundRect">
            <a:avLst/>
          </a:prstGeom>
          <a:solidFill>
            <a:srgbClr val="536B86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10398" y="1883664"/>
            <a:ext cx="3840480" cy="548640"/>
          </a:xfrm>
          <a:prstGeom prst="rect">
            <a:avLst/>
          </a:prstGeom>
          <a:noFill/>
        </p:spPr>
        <p:txBody>
          <a:bodyPr wrap="square" lIns="101600" tIns="76200" rIns="101600" bIns="762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Зависимости и файлы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81798" y="2633472"/>
            <a:ext cx="4297680" cy="749808"/>
          </a:xfrm>
          <a:prstGeom prst="roundRect">
            <a:avLst/>
          </a:prstGeom>
          <a:solidFill>
            <a:srgbClr val="F4A261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81798" y="2734056"/>
            <a:ext cx="4297680" cy="640080"/>
          </a:xfrm>
          <a:prstGeom prst="rect">
            <a:avLst/>
          </a:prstGeom>
          <a:noFill/>
        </p:spPr>
        <p:txBody>
          <a:bodyPr wrap="square" lIns="101600" tIns="76200" rIns="101600" bIns="762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Образ: immutable шаблон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07478" y="3611880"/>
            <a:ext cx="4846320" cy="749808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07478" y="3712464"/>
            <a:ext cx="4846320" cy="640080"/>
          </a:xfrm>
          <a:prstGeom prst="rect">
            <a:avLst/>
          </a:prstGeom>
          <a:noFill/>
        </p:spPr>
        <p:txBody>
          <a:bodyPr wrap="square" lIns="101600" tIns="76200" rIns="101600" bIns="762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Контейнер: запущенный экземпляр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8878" y="4590288"/>
            <a:ext cx="5303520" cy="804672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78878" y="4690872"/>
            <a:ext cx="5303520" cy="694944"/>
          </a:xfrm>
          <a:prstGeom prst="rect">
            <a:avLst/>
          </a:prstGeom>
          <a:noFill/>
        </p:spPr>
        <p:txBody>
          <a:bodyPr wrap="square" lIns="101600" tIns="76200" rIns="101600" bIns="762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Runtime + host 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6311" y="5596128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E9DFC8"/>
                </a:solidFill>
                <a:latin typeface="Aptos"/>
              </a:defRPr>
            </a:pP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подход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разработки</a:t>
            </a:r>
            <a:r>
              <a:rPr dirty="0"/>
              <a:t>, </a:t>
            </a:r>
            <a:r>
              <a:rPr dirty="0" err="1"/>
              <a:t>теста</a:t>
            </a:r>
            <a:r>
              <a:rPr dirty="0"/>
              <a:t> и </a:t>
            </a:r>
            <a:r>
              <a:rPr dirty="0" err="1"/>
              <a:t>продакшна</a:t>
            </a:r>
            <a:endParaRPr dirty="0"/>
          </a:p>
        </p:txBody>
      </p:sp>
      <p:sp>
        <p:nvSpPr>
          <p:cNvPr id="28" name="Rectangle 2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566928"/>
            <a:ext cx="91440" cy="5074920"/>
          </a:xfrm>
          <a:prstGeom prst="rect">
            <a:avLst/>
          </a:prstGeom>
          <a:solidFill>
            <a:srgbClr val="C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Диагностика группы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0D1B2A"/>
                </a:solidFill>
                <a:latin typeface="Bahnschrift"/>
              </a:defRPr>
            </a:pPr>
            <a:r>
              <a:t>С чего мы стартуем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C7A89"/>
                </a:solidFill>
                <a:latin typeface="Aptos"/>
              </a:defRPr>
            </a:pPr>
            <a:r>
              <a:t>Короткая диагностика помогает понять опыт группы и задать правильный темп на 3-часовое занятие.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6C7A89"/>
                </a:solidFill>
                <a:latin typeface="Bahnschrift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07492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" y="1947672"/>
            <a:ext cx="146304" cy="117957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2415" y="1947672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Кто уже слышал про Docker?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2350008"/>
            <a:ext cx="4581144" cy="813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Соберите быстрый срез: видел, запускал, использовал на работе или только слышал название.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1783080"/>
            <a:ext cx="507492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63056" y="1947672"/>
            <a:ext cx="146304" cy="1179576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947672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Кто уверенно работает в терминале?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50008"/>
            <a:ext cx="4581144" cy="813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Это поможет понять, насколько подробно показывать команды и сколько давать пауз на повторение.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657600"/>
            <a:ext cx="507492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4672" y="3822191"/>
            <a:ext cx="146304" cy="1179576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2415" y="3822191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Кто сталкивался с 'у меня работает'?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5" y="4224528"/>
            <a:ext cx="4581144" cy="813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Это лучший вход в тему: боль окружений знакома даже тем, кто ещё не трогал Docker.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6752" y="3657600"/>
            <a:ext cx="507492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63056" y="3822191"/>
            <a:ext cx="146304" cy="117957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3822191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Что вы хотите уметь через 3 часа?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24528"/>
            <a:ext cx="4581144" cy="813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Запустить контейнер, понять image vs container, собрать образ, перестать бояться командной строки.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32120"/>
            <a:ext cx="10844784" cy="566928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5687568"/>
            <a:ext cx="10287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F7F4EA"/>
                </a:solidFill>
                <a:latin typeface="Aptos"/>
              </a:defRPr>
            </a:pPr>
            <a:r>
              <a:t>Удобно собрать ответы поднятием руки, коротким устным кругом или через чат, если занятие проходит онлайн.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566928"/>
            <a:ext cx="91440" cy="5074920"/>
          </a:xfrm>
          <a:prstGeom prst="rect">
            <a:avLst/>
          </a:prstGeom>
          <a:solidFill>
            <a:srgbClr val="C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План занятия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0D1B2A"/>
                </a:solidFill>
                <a:latin typeface="Bahnschrift"/>
              </a:defRPr>
            </a:pPr>
            <a:r>
              <a:t>Маршрут урока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36635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C7A89"/>
                </a:solidFill>
                <a:latin typeface="Aptos"/>
              </a:defRPr>
            </a:pPr>
            <a:r>
              <a:rPr dirty="0" err="1"/>
              <a:t>Структура</a:t>
            </a:r>
            <a:r>
              <a:rPr dirty="0"/>
              <a:t> </a:t>
            </a:r>
            <a:r>
              <a:rPr dirty="0" err="1"/>
              <a:t>занятия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180 </a:t>
            </a:r>
            <a:r>
              <a:rPr dirty="0" err="1"/>
              <a:t>минут</a:t>
            </a:r>
            <a:r>
              <a:rPr dirty="0"/>
              <a:t>: </a:t>
            </a:r>
            <a:r>
              <a:rPr dirty="0" err="1"/>
              <a:t>теория</a:t>
            </a:r>
            <a:r>
              <a:rPr dirty="0"/>
              <a:t>, </a:t>
            </a:r>
            <a:r>
              <a:rPr dirty="0" err="1"/>
              <a:t>живая</a:t>
            </a:r>
            <a:r>
              <a:rPr dirty="0"/>
              <a:t> </a:t>
            </a:r>
            <a:r>
              <a:rPr dirty="0" err="1"/>
              <a:t>демонстрация</a:t>
            </a:r>
            <a:r>
              <a:rPr dirty="0"/>
              <a:t>, </a:t>
            </a:r>
            <a:r>
              <a:rPr dirty="0" err="1"/>
              <a:t>практика</a:t>
            </a:r>
            <a:r>
              <a:rPr dirty="0"/>
              <a:t> и </a:t>
            </a:r>
            <a:r>
              <a:rPr dirty="0" err="1"/>
              <a:t>мини-кейс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6C7A89"/>
                </a:solidFill>
                <a:latin typeface="Bahnschrift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92608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59" y="1837944"/>
            <a:ext cx="74980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1847088"/>
            <a:ext cx="749808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0-35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2585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Старт и мотивация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606040"/>
            <a:ext cx="2606040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Диагностика группы, проблема окружений и отличие контейнеров от VM.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13632" y="1691640"/>
            <a:ext cx="292608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078224" y="1837944"/>
            <a:ext cx="74980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78224" y="1847088"/>
            <a:ext cx="749808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35-55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6512" y="22585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Термины и архитектура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6512" y="2606040"/>
            <a:ext cx="2606040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Image, container, registry, Engine, daemon и runtime.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68896" y="1691640"/>
            <a:ext cx="292608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33488" y="1837944"/>
            <a:ext cx="74980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33488" y="1847088"/>
            <a:ext cx="749808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55-75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1775" y="22585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Живые демо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1775" y="2606040"/>
            <a:ext cx="2606040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hello-world, nginx, проброс порта, логи и жизненный цикл.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657600"/>
            <a:ext cx="292608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2959" y="3803904"/>
            <a:ext cx="74980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59" y="3813048"/>
            <a:ext cx="749808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75-105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422452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Проверка и изоляция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4572000"/>
            <a:ext cx="2606040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Контрольная точка, короткая пауза, namespaces и cgroups.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657600"/>
            <a:ext cx="292608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078224" y="3803904"/>
            <a:ext cx="74980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78224" y="3813048"/>
            <a:ext cx="749808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105-150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96512" y="422452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Dockerfile и практика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6512" y="4572000"/>
            <a:ext cx="2606040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Сборка образа, запуск контейнера, изменение HTML и пересборка.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68896" y="3657600"/>
            <a:ext cx="292608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333488" y="3803904"/>
            <a:ext cx="74980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33488" y="3813048"/>
            <a:ext cx="749808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150-180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51775" y="422452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Мини-кейс и финал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51775" y="4572000"/>
            <a:ext cx="2606040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Поиск типичной ошибки, итог, вопросы и домашняя работа.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577840"/>
            <a:ext cx="9436608" cy="621792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" y="5724144"/>
            <a:ext cx="9052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7F4EA"/>
                </a:solidFill>
                <a:latin typeface="Aptos"/>
              </a:defRPr>
            </a:pPr>
            <a:r>
              <a:t>К концу занятия слушатель объясняет image vs container, запускает Nginx, собирает свой образ и не пугается типичной ошибки.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Контекст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F7F4EA"/>
                </a:solidFill>
                <a:latin typeface="Bahnschrift"/>
              </a:defRPr>
            </a:pPr>
            <a:r>
              <a:t>Почему появилась контейнеризация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E9DFC8"/>
                </a:solidFill>
                <a:latin typeface="Aptos"/>
              </a:defRPr>
            </a:pPr>
            <a:r>
              <a:t>Проблема чаще всего не в коде, а в различиях окружения и зависимостей.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493776"/>
            <a:ext cx="3154680" cy="384048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83879" y="502920"/>
            <a:ext cx="315468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Вопрос аудитории: где вы это уже видели?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28800"/>
            <a:ext cx="3566160" cy="246888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" y="1993392"/>
            <a:ext cx="146304" cy="213969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2415" y="1993392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«У меня работает»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" y="2395728"/>
            <a:ext cx="3072384" cy="1773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Разные версии ОС, интерпретатора, переменных окружения и библиотек делают запуск непредсказуемым.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828800"/>
            <a:ext cx="3566160" cy="246888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43984" y="1993392"/>
            <a:ext cx="146304" cy="2139696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81728" y="1993392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Зависимости конфликтуют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395728"/>
            <a:ext cx="3072384" cy="1773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Одному проекту нужна одна версия пакета, другому - другая. Ручная настройка быстро становится хрупкой.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36992" y="1828800"/>
            <a:ext cx="3566160" cy="246888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83296" y="1993392"/>
            <a:ext cx="146304" cy="2139696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1993392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Релиз трудно повторить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395728"/>
            <a:ext cx="3072384" cy="1773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Тест, staging и production расходятся по конфигурации, и баги проявляются уже после выкладки.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983480"/>
            <a:ext cx="10844784" cy="868680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5230368"/>
            <a:ext cx="10287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400" b="1">
                <a:solidFill>
                  <a:srgbClr val="F7F4EA"/>
                </a:solidFill>
                <a:latin typeface="Aptos"/>
              </a:defRPr>
            </a:pPr>
            <a:r>
              <a:t>Контейнер = стандартный способ упаковать приложение и его окружение так, чтобы запуск повторялся одинаково.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566928"/>
            <a:ext cx="91440" cy="5074920"/>
          </a:xfrm>
          <a:prstGeom prst="rect">
            <a:avLst/>
          </a:prstGeom>
          <a:solidFill>
            <a:srgbClr val="C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Сравнение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0D1B2A"/>
                </a:solidFill>
                <a:latin typeface="Bahnschrift"/>
              </a:defRPr>
            </a:pPr>
            <a:r>
              <a:t>Контейнеры и виртуальные машины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C7A89"/>
                </a:solidFill>
                <a:latin typeface="Aptos"/>
              </a:defRPr>
            </a:pPr>
            <a:r>
              <a:t>Похожая цель, но разный уровень изоляции, скорости запуска и потребления ресурсов.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6C7A89"/>
                </a:solidFill>
                <a:latin typeface="Bahnschrift"/>
              </a:defRPr>
            </a:pPr>
            <a: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38528"/>
            <a:ext cx="5394960" cy="3867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36208" y="1938528"/>
            <a:ext cx="5257800" cy="3867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2841" y="213055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700" b="1">
                <a:solidFill>
                  <a:srgbClr val="0D1B2A"/>
                </a:solidFill>
                <a:latin typeface="Bahnschrift"/>
              </a:defRPr>
            </a:pPr>
            <a:r>
              <a:rPr dirty="0" err="1"/>
              <a:t>Контейнеры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854696" y="21031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700" b="1">
                <a:solidFill>
                  <a:srgbClr val="0D1B2A"/>
                </a:solidFill>
                <a:latin typeface="Bahnschrift"/>
              </a:defRPr>
            </a:pPr>
            <a:r>
              <a:rPr dirty="0" err="1"/>
              <a:t>Виртуальные</a:t>
            </a:r>
            <a:r>
              <a:rPr dirty="0"/>
              <a:t> </a:t>
            </a:r>
            <a:r>
              <a:rPr dirty="0" err="1"/>
              <a:t>машины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1479267" y="2615184"/>
            <a:ext cx="1051560" cy="420624"/>
          </a:xfrm>
          <a:prstGeom prst="roundRect">
            <a:avLst/>
          </a:prstGeom>
          <a:solidFill>
            <a:srgbClr val="2A9D8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894258" y="2615184"/>
            <a:ext cx="1051560" cy="420624"/>
          </a:xfrm>
          <a:prstGeom prst="roundRect">
            <a:avLst/>
          </a:prstGeom>
          <a:solidFill>
            <a:srgbClr val="2A9D8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270965" y="2615184"/>
            <a:ext cx="1051560" cy="420624"/>
          </a:xfrm>
          <a:prstGeom prst="roundRect">
            <a:avLst/>
          </a:prstGeom>
          <a:solidFill>
            <a:srgbClr val="2A9D8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14901" y="2670585"/>
            <a:ext cx="1051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rPr dirty="0"/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8729" y="2679908"/>
            <a:ext cx="1051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rPr dirty="0"/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9603" y="2688873"/>
            <a:ext cx="1051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rPr dirty="0"/>
              <a:t>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14901" y="3246120"/>
            <a:ext cx="3931920" cy="384048"/>
          </a:xfrm>
          <a:prstGeom prst="rect">
            <a:avLst/>
          </a:prstGeom>
          <a:solidFill>
            <a:srgbClr val="D9E7F3"/>
          </a:solidFill>
          <a:ln w="1524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0076" y="3328147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rPr dirty="0"/>
              <a:t>Host OS / Linux kernel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858768"/>
            <a:ext cx="4709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• Делят ядро хостовой ОС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• Запускаются быстро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• Обычно легче по ресурсам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• Удобны для CI/CD, dev и доставки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6629" y="2487168"/>
            <a:ext cx="1371600" cy="822960"/>
          </a:xfrm>
          <a:prstGeom prst="roundRect">
            <a:avLst/>
          </a:prstGeom>
          <a:solidFill>
            <a:srgbClr val="F4A261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99581" y="2487168"/>
            <a:ext cx="1371600" cy="822960"/>
          </a:xfrm>
          <a:prstGeom prst="roundRect">
            <a:avLst/>
          </a:prstGeom>
          <a:solidFill>
            <a:srgbClr val="F4A261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3789" y="2660904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0D1B2A"/>
                </a:solidFill>
                <a:latin typeface="Aptos"/>
              </a:defRPr>
            </a:pPr>
            <a:r>
              <a:rPr dirty="0"/>
              <a:t>VM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8584" y="2660904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0D1B2A"/>
                </a:solidFill>
                <a:latin typeface="Aptos"/>
              </a:defRPr>
            </a:pPr>
            <a:r>
              <a:rPr dirty="0"/>
              <a:t>VM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2962656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900" b="0">
                <a:solidFill>
                  <a:srgbClr val="0D1B2A"/>
                </a:solidFill>
                <a:latin typeface="Aptos"/>
              </a:defRPr>
            </a:pPr>
            <a:r>
              <a:rPr dirty="0"/>
              <a:t>Guest 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3473" y="2916936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900" b="0">
                <a:solidFill>
                  <a:srgbClr val="0D1B2A"/>
                </a:solidFill>
                <a:latin typeface="Aptos"/>
              </a:defRPr>
            </a:pPr>
            <a:r>
              <a:rPr dirty="0"/>
              <a:t>Guest 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72885" y="3438144"/>
            <a:ext cx="3749039" cy="365760"/>
          </a:xfrm>
          <a:prstGeom prst="rect">
            <a:avLst/>
          </a:prstGeom>
          <a:solidFill>
            <a:srgbClr val="E9DFC8"/>
          </a:solidFill>
          <a:ln w="1524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90588" y="3536756"/>
            <a:ext cx="374903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rPr dirty="0"/>
              <a:t>Hypervisor / virtualization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3858768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• У каждой VM свой guest OS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• Старт обычно медленнее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• Потребляют больше ресурсов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• Изоляция сильнее, но цена выше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5870448"/>
            <a:ext cx="10287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50" b="1">
                <a:solidFill>
                  <a:srgbClr val="6C7A89"/>
                </a:solidFill>
                <a:latin typeface="Aptos"/>
              </a:defRPr>
            </a:pPr>
            <a:r>
              <a:t>Важно: на Windows и macOS Linux-контейнеры в Docker Desktop работают внутри Linux VM.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Термины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F7F4EA"/>
                </a:solidFill>
                <a:latin typeface="Bahnschrift"/>
              </a:defRPr>
            </a:pPr>
            <a:r>
              <a:t>Ключевые сущности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E9DFC8"/>
                </a:solidFill>
                <a:latin typeface="Aptos"/>
              </a:defRPr>
            </a:pPr>
            <a:r>
              <a:t>Четыре базовых понятия, без которых дальше будет трудно читать команды и понимать практику.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074920" cy="169164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" y="1947672"/>
            <a:ext cx="146304" cy="136245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2415" y="1947672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2350008"/>
            <a:ext cx="4581144" cy="99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Шаблон с файловой системой и метаданными. Из одного образа можно запускать много контейнеров.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Команды: docker pull, docker 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1783080"/>
            <a:ext cx="5074920" cy="169164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63056" y="1947672"/>
            <a:ext cx="146304" cy="1362456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947672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Container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50008"/>
            <a:ext cx="4581144" cy="99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Запущенный экземпляр образа. У него есть свой процесс и верхний writable layer.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Команда: docker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03320"/>
            <a:ext cx="5074920" cy="169164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4672" y="3867911"/>
            <a:ext cx="146304" cy="1362456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2415" y="3867911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Registry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5" y="4270248"/>
            <a:ext cx="4581144" cy="99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Удалённое хранилище образов: Docker Hub или private registry. Отсюда образы скачиваются и сюда публикуются.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6752" y="3703320"/>
            <a:ext cx="5074920" cy="169164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63056" y="3867911"/>
            <a:ext cx="146304" cy="136245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3867911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Dockerfile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70248"/>
            <a:ext cx="4581144" cy="99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Текстовое описание сборки образа. В нём задаются база, копирование файлов и команды сборки.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760720"/>
            <a:ext cx="10844784" cy="365760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824728"/>
            <a:ext cx="10469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E9DFC8"/>
                </a:solidFill>
                <a:latin typeface="Aptos"/>
              </a:defRPr>
            </a:pPr>
            <a:r>
              <a:t>CLI отдаёт команду -&gt; Engine управляет объектами -&gt; runtime запускает контейнер -&gt; registry хранит образы.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566928"/>
            <a:ext cx="91440" cy="5074920"/>
          </a:xfrm>
          <a:prstGeom prst="rect">
            <a:avLst/>
          </a:prstGeom>
          <a:solidFill>
            <a:srgbClr val="C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Схема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0D1B2A"/>
                </a:solidFill>
                <a:latin typeface="Bahnschrift"/>
              </a:defRPr>
            </a:pPr>
            <a:r>
              <a:t>Архитектура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C7A89"/>
                </a:solidFill>
                <a:latin typeface="Aptos"/>
              </a:defRPr>
            </a:pPr>
            <a:r>
              <a:t>Полезно объяснять цепочку как путь команды от терминала до запущенного процесса.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6C7A89"/>
                </a:solidFill>
                <a:latin typeface="Bahnschrift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331720"/>
            <a:ext cx="1645920" cy="1051560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6060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600" b="1">
                <a:solidFill>
                  <a:srgbClr val="F7F4EA"/>
                </a:solidFill>
                <a:latin typeface="Bahnschrift"/>
              </a:defRPr>
            </a:pPr>
            <a:r>
              <a:t>Docker CLI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2615184"/>
            <a:ext cx="384048" cy="411480"/>
          </a:xfrm>
          <a:prstGeom prst="roundRect">
            <a:avLst/>
          </a:prstGeom>
          <a:solidFill>
            <a:srgbClr val="F4A261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60904" y="2670048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0D1B2A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18688" y="1965960"/>
            <a:ext cx="242316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19856" y="2212848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700" b="1">
                <a:solidFill>
                  <a:srgbClr val="0D1B2A"/>
                </a:solidFill>
                <a:latin typeface="Bahnschrift"/>
              </a:defRPr>
            </a:pPr>
            <a:r>
              <a:t>Docker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2633472"/>
            <a:ext cx="1828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dockerd слушает API-запросы и управляет image, container, network, volume.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2615184"/>
            <a:ext cx="384048" cy="411480"/>
          </a:xfrm>
          <a:prstGeom prst="roundRect">
            <a:avLst/>
          </a:prstGeom>
          <a:solidFill>
            <a:srgbClr val="F4A261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25312" y="2670048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0D1B2A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983096"/>
            <a:ext cx="1325880" cy="731520"/>
          </a:xfrm>
          <a:prstGeom prst="roundRect">
            <a:avLst/>
          </a:prstGeom>
          <a:solidFill>
            <a:srgbClr val="EEF3F7"/>
          </a:solidFill>
          <a:ln w="1524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184264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300" b="1">
                <a:solidFill>
                  <a:srgbClr val="0D1B2A"/>
                </a:solidFill>
                <a:latin typeface="Bahnschrift"/>
              </a:defRPr>
            </a:pPr>
            <a:r>
              <a:t>containerd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2983096"/>
            <a:ext cx="960120" cy="731520"/>
          </a:xfrm>
          <a:prstGeom prst="roundRect">
            <a:avLst/>
          </a:prstGeom>
          <a:solidFill>
            <a:srgbClr val="EEF3F7"/>
          </a:solidFill>
          <a:ln w="1524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28431" y="3184264"/>
            <a:ext cx="960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300" b="1">
                <a:solidFill>
                  <a:srgbClr val="0D1B2A"/>
                </a:solidFill>
                <a:latin typeface="Bahnschrift"/>
              </a:defRPr>
            </a:pPr>
            <a:r>
              <a:t>runc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2818504"/>
            <a:ext cx="1828800" cy="1051560"/>
          </a:xfrm>
          <a:prstGeom prst="roundRect">
            <a:avLst/>
          </a:prstGeom>
          <a:solidFill>
            <a:srgbClr val="2A9D8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81160" y="30653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600" b="1">
                <a:solidFill>
                  <a:srgbClr val="FFFFFF"/>
                </a:solidFill>
                <a:latin typeface="Bahnschrift"/>
              </a:defRPr>
            </a:pPr>
            <a:r>
              <a:t>Container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65392" y="1904104"/>
            <a:ext cx="19202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732520" y="1904104"/>
            <a:ext cx="20574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65392" y="2105272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300" b="1">
                <a:solidFill>
                  <a:srgbClr val="0D1B2A"/>
                </a:solidFill>
                <a:latin typeface="Bahnschrift"/>
              </a:defRPr>
            </a:pPr>
            <a:r>
              <a:t>Registry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2105272"/>
            <a:ext cx="2057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300" b="1">
                <a:solidFill>
                  <a:srgbClr val="0D1B2A"/>
                </a:solidFill>
                <a:latin typeface="Bahnschrift"/>
              </a:defRPr>
            </a:pPr>
            <a:r>
              <a:t>Local images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4442910"/>
            <a:ext cx="4343400" cy="987552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22592" y="4617720"/>
            <a:ext cx="3840480" cy="45720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Aptos"/>
              </a:defRPr>
            </a:pPr>
            <a:r>
              <a:t>Runtime создаёт изолированный процесс, используя namespaces и cgroups.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4572000"/>
            <a:ext cx="53492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4791456"/>
            <a:ext cx="4937760" cy="38404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0D1B2A"/>
                </a:solidFill>
                <a:latin typeface="Aptos"/>
              </a:defRPr>
            </a:pPr>
            <a:r>
              <a:t>Проговорите цепочку вслух: команда в CLI -&gt; daemon -&gt; image/runtime -&gt; контейнер.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Роли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F7F4EA"/>
                </a:solidFill>
                <a:latin typeface="Bahnschrift"/>
              </a:defRPr>
            </a:pPr>
            <a:r>
              <a:t>Engine и runtime: кто за что отвечает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81460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E9DFC8"/>
                </a:solidFill>
                <a:latin typeface="Aptos"/>
              </a:defRPr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первом</a:t>
            </a:r>
            <a:r>
              <a:rPr dirty="0"/>
              <a:t> </a:t>
            </a:r>
            <a:r>
              <a:rPr dirty="0" err="1"/>
              <a:t>уроке</a:t>
            </a:r>
            <a:r>
              <a:rPr dirty="0"/>
              <a:t> </a:t>
            </a:r>
            <a:r>
              <a:rPr dirty="0" err="1"/>
              <a:t>достаточно</a:t>
            </a:r>
            <a:r>
              <a:rPr dirty="0"/>
              <a:t> </a:t>
            </a:r>
            <a:r>
              <a:rPr dirty="0" err="1"/>
              <a:t>разделить</a:t>
            </a:r>
            <a:r>
              <a:rPr dirty="0"/>
              <a:t>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жизненным</a:t>
            </a:r>
            <a:r>
              <a:rPr dirty="0"/>
              <a:t> </a:t>
            </a:r>
            <a:r>
              <a:rPr dirty="0" err="1"/>
              <a:t>циклом</a:t>
            </a:r>
            <a:r>
              <a:rPr dirty="0"/>
              <a:t> и </a:t>
            </a:r>
            <a:r>
              <a:rPr dirty="0" err="1"/>
              <a:t>непосредственный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 </a:t>
            </a:r>
            <a:r>
              <a:rPr dirty="0" err="1"/>
              <a:t>контейнера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737360"/>
            <a:ext cx="3108960" cy="548640"/>
          </a:xfrm>
          <a:prstGeom prst="roundRect">
            <a:avLst/>
          </a:prstGeom>
          <a:solidFill>
            <a:srgbClr val="F7C873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1837943"/>
            <a:ext cx="3108960" cy="438912"/>
          </a:xfrm>
          <a:prstGeom prst="rect">
            <a:avLst/>
          </a:prstGeom>
          <a:noFill/>
        </p:spPr>
        <p:txBody>
          <a:bodyPr wrap="square" lIns="101600" tIns="76200" rIns="101600" bIns="762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docker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468880"/>
            <a:ext cx="3108960" cy="548640"/>
          </a:xfrm>
          <a:prstGeom prst="roundRect">
            <a:avLst/>
          </a:prstGeom>
          <a:solidFill>
            <a:srgbClr val="F4A261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2569464"/>
            <a:ext cx="3108960" cy="438912"/>
          </a:xfrm>
          <a:prstGeom prst="rect">
            <a:avLst/>
          </a:prstGeom>
          <a:noFill/>
        </p:spPr>
        <p:txBody>
          <a:bodyPr wrap="square" lIns="101600" tIns="76200" rIns="101600" bIns="762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dockerd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200400"/>
            <a:ext cx="3108960" cy="548640"/>
          </a:xfrm>
          <a:prstGeom prst="roundRect">
            <a:avLst/>
          </a:prstGeom>
          <a:solidFill>
            <a:srgbClr val="536B86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300984"/>
            <a:ext cx="3108960" cy="438912"/>
          </a:xfrm>
          <a:prstGeom prst="rect">
            <a:avLst/>
          </a:prstGeom>
          <a:noFill/>
        </p:spPr>
        <p:txBody>
          <a:bodyPr wrap="square" lIns="101600" tIns="76200" rIns="101600" bIns="762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containerd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931920"/>
            <a:ext cx="3108960" cy="548640"/>
          </a:xfrm>
          <a:prstGeom prst="roundRect">
            <a:avLst/>
          </a:prstGeom>
          <a:solidFill>
            <a:srgbClr val="2A9D8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4032504"/>
            <a:ext cx="3108960" cy="438912"/>
          </a:xfrm>
          <a:prstGeom prst="rect">
            <a:avLst/>
          </a:prstGeom>
          <a:noFill/>
        </p:spPr>
        <p:txBody>
          <a:bodyPr wrap="square" lIns="101600" tIns="76200" rIns="101600" bIns="762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runc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663440"/>
            <a:ext cx="3108960" cy="548640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1B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4764024"/>
            <a:ext cx="3108960" cy="438912"/>
          </a:xfrm>
          <a:prstGeom prst="rect">
            <a:avLst/>
          </a:prstGeom>
          <a:noFill/>
        </p:spPr>
        <p:txBody>
          <a:bodyPr wrap="square" lIns="101600" tIns="76200" rIns="101600" bIns="762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process in container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1783080"/>
            <a:ext cx="6812280" cy="123444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718304" y="1947672"/>
            <a:ext cx="146304" cy="905256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56048" y="1947672"/>
            <a:ext cx="6263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Container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048" y="2350008"/>
            <a:ext cx="6318504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Docker Engine управляет образами, контейнерами, сетями, томами и принимает команды через CLI/API.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182112"/>
            <a:ext cx="6812280" cy="123444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718304" y="3346704"/>
            <a:ext cx="146304" cy="90525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56048" y="3346704"/>
            <a:ext cx="6263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Container runtime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6048" y="3749039"/>
            <a:ext cx="6318504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Runtime запускает контейнер как изолированный процесс. В типичной схеме Docker использует containerd и runc.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4645152"/>
            <a:ext cx="6812280" cy="1060704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09744" y="4864608"/>
            <a:ext cx="6355080" cy="47548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300" b="1">
                <a:solidFill>
                  <a:srgbClr val="F7F4EA"/>
                </a:solidFill>
                <a:latin typeface="Aptos"/>
              </a:defRPr>
            </a:pPr>
            <a:r>
              <a:t>Короткая формула для группы: engine управляет, runtime запускает. Этого достаточно для первого занятия.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566928"/>
            <a:ext cx="91440" cy="5074920"/>
          </a:xfrm>
          <a:prstGeom prst="rect">
            <a:avLst/>
          </a:prstGeom>
          <a:solidFill>
            <a:srgbClr val="C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Linux основы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0D1B2A"/>
                </a:solidFill>
                <a:latin typeface="Bahnschrift"/>
              </a:defRPr>
            </a:pPr>
            <a:r>
              <a:t>Изоляция через namespaces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36637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C7A89"/>
                </a:solidFill>
                <a:latin typeface="Aptos"/>
              </a:defRPr>
            </a:pPr>
            <a:r>
              <a:rPr dirty="0" err="1"/>
              <a:t>Полезная</a:t>
            </a:r>
            <a:r>
              <a:rPr dirty="0"/>
              <a:t> </a:t>
            </a:r>
            <a:r>
              <a:rPr dirty="0" err="1"/>
              <a:t>метафора</a:t>
            </a:r>
            <a:r>
              <a:rPr dirty="0"/>
              <a:t>: </a:t>
            </a:r>
            <a:r>
              <a:rPr dirty="0" err="1"/>
              <a:t>контейнеру</a:t>
            </a:r>
            <a:r>
              <a:rPr dirty="0"/>
              <a:t> </a:t>
            </a:r>
            <a:r>
              <a:rPr dirty="0" err="1"/>
              <a:t>показывают</a:t>
            </a:r>
            <a:r>
              <a:rPr dirty="0"/>
              <a:t> </a:t>
            </a:r>
            <a:r>
              <a:rPr dirty="0" err="1"/>
              <a:t>отдельный</a:t>
            </a:r>
            <a:r>
              <a:rPr dirty="0"/>
              <a:t> </a:t>
            </a:r>
            <a:r>
              <a:rPr dirty="0" err="1"/>
              <a:t>мир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dirty="0"/>
              <a:t>, </a:t>
            </a:r>
            <a:r>
              <a:rPr dirty="0" err="1"/>
              <a:t>сети</a:t>
            </a:r>
            <a:r>
              <a:rPr dirty="0"/>
              <a:t> и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6C7A89"/>
                </a:solidFill>
                <a:latin typeface="Bahnschrift"/>
              </a:defRPr>
            </a:pPr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10844784" cy="640080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01952"/>
            <a:ext cx="10332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300" b="1">
                <a:solidFill>
                  <a:srgbClr val="F7F4EA"/>
                </a:solidFill>
                <a:latin typeface="Aptos"/>
              </a:defRPr>
            </a:pPr>
            <a:r>
              <a:t>namespaces отвечают на вопрос: что контейнер видит как своё окружение.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0604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59" y="2770632"/>
            <a:ext cx="530352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2779776"/>
            <a:ext cx="530352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834640"/>
            <a:ext cx="1874519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Своя таблица процессов.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Контейнер не видит весь host.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13632" y="260604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078224" y="2770632"/>
            <a:ext cx="530352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78224" y="2779776"/>
            <a:ext cx="530352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2834640"/>
            <a:ext cx="1874519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Свои интерфейсы, IP,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маршруты и порты.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68896" y="260604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33488" y="2770632"/>
            <a:ext cx="530352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33488" y="2779776"/>
            <a:ext cx="530352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MNT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1856" y="2834640"/>
            <a:ext cx="1874519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Своя точка зрения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на файловую систему.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16052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22959" y="4325112"/>
            <a:ext cx="530352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59" y="4334255"/>
            <a:ext cx="530352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IPC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4389120"/>
            <a:ext cx="1874519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rPr dirty="0" err="1"/>
              <a:t>Изоляция</a:t>
            </a:r>
            <a:r>
              <a:rPr dirty="0"/>
              <a:t> shared memory,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rPr dirty="0"/>
              <a:t>semaphores и message queues.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13632" y="416052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078224" y="4325112"/>
            <a:ext cx="530352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78224" y="4334255"/>
            <a:ext cx="530352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4389120"/>
            <a:ext cx="1874519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Свой hostname и domain name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внутри контейнера.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68896" y="416052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333488" y="4325112"/>
            <a:ext cx="530352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33488" y="4334255"/>
            <a:ext cx="530352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91856" y="4389120"/>
            <a:ext cx="1874519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Отдельное отображение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UID/GID для безопасности.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742432"/>
            <a:ext cx="10844784" cy="365760"/>
          </a:xfrm>
          <a:prstGeom prst="roundRect">
            <a:avLst/>
          </a:prstGeom>
          <a:solidFill>
            <a:srgbClr val="F4A261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6112" y="5815584"/>
            <a:ext cx="10287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1">
                <a:solidFill>
                  <a:srgbClr val="0D1B2A"/>
                </a:solidFill>
                <a:latin typeface="Aptos"/>
              </a:defRPr>
            </a:pPr>
            <a:r>
              <a:t>Контейнер изолирует процесс, а не эмулирует целый компьютер.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Ресурсы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F7F4EA"/>
                </a:solidFill>
                <a:latin typeface="Bahnschrift"/>
              </a:defRPr>
            </a:pPr>
            <a:r>
              <a:t>Контроль ресурсов через cgroups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54565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E9DFC8"/>
                </a:solidFill>
                <a:latin typeface="Aptos"/>
              </a:defRPr>
            </a:pPr>
            <a:r>
              <a:rPr dirty="0" err="1"/>
              <a:t>Если</a:t>
            </a:r>
            <a:r>
              <a:rPr dirty="0"/>
              <a:t> namespaces </a:t>
            </a:r>
            <a:r>
              <a:rPr dirty="0" err="1"/>
              <a:t>отвечают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изоляцию</a:t>
            </a:r>
            <a:r>
              <a:rPr dirty="0"/>
              <a:t>, </a:t>
            </a:r>
            <a:r>
              <a:rPr dirty="0" err="1"/>
              <a:t>то</a:t>
            </a:r>
            <a:r>
              <a:rPr dirty="0"/>
              <a:t> </a:t>
            </a:r>
            <a:r>
              <a:rPr dirty="0" err="1"/>
              <a:t>cgroups</a:t>
            </a:r>
            <a:r>
              <a:rPr dirty="0"/>
              <a:t> </a:t>
            </a:r>
            <a:r>
              <a:rPr dirty="0" err="1"/>
              <a:t>отвечают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ограничения</a:t>
            </a:r>
            <a:r>
              <a:rPr dirty="0"/>
              <a:t> и </a:t>
            </a:r>
            <a:r>
              <a:rPr dirty="0" err="1"/>
              <a:t>учёт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3840480" cy="306324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2029968"/>
            <a:ext cx="3291840" cy="1417320"/>
          </a:xfrm>
          <a:prstGeom prst="rect">
            <a:avLst/>
          </a:prstGeom>
          <a:noFill/>
        </p:spPr>
        <p:txBody>
          <a:bodyPr wrap="square" lIns="101600" tIns="76200" rIns="101600" bIns="762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2000" b="1">
                <a:solidFill>
                  <a:srgbClr val="0D1B2A"/>
                </a:solidFill>
                <a:latin typeface="Bahnschrift"/>
              </a:defRPr>
            </a:pPr>
            <a:r>
              <a:rPr dirty="0" err="1"/>
              <a:t>cgroups</a:t>
            </a:r>
            <a:r>
              <a:rPr dirty="0"/>
              <a:t> </a:t>
            </a:r>
            <a:r>
              <a:rPr dirty="0" err="1"/>
              <a:t>отвечают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вопрос</a:t>
            </a:r>
            <a:r>
              <a:rPr dirty="0"/>
              <a:t>: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  <a:defRPr sz="2000" b="1">
                <a:solidFill>
                  <a:srgbClr val="0D1B2A"/>
                </a:solidFill>
                <a:latin typeface="Bahnschrift"/>
              </a:defRPr>
            </a:pPr>
            <a:r>
              <a:rPr dirty="0" err="1"/>
              <a:t>сколько</a:t>
            </a:r>
            <a:r>
              <a:rPr dirty="0"/>
              <a:t> CPU, </a:t>
            </a:r>
            <a:r>
              <a:rPr dirty="0" err="1"/>
              <a:t>памяти</a:t>
            </a:r>
            <a:r>
              <a:rPr dirty="0"/>
              <a:t> и </a:t>
            </a:r>
            <a:r>
              <a:rPr dirty="0" err="1"/>
              <a:t>процессов</a:t>
            </a:r>
            <a:r>
              <a:rPr dirty="0"/>
              <a:t> </a:t>
            </a:r>
            <a:r>
              <a:rPr dirty="0" err="1"/>
              <a:t>контейнер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5074920"/>
            <a:ext cx="3840480" cy="777240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5222658"/>
            <a:ext cx="3383280" cy="256032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7F4EA"/>
                </a:solidFill>
                <a:latin typeface="Aptos"/>
              </a:defRPr>
            </a:pP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ограничений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контейнер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мешать</a:t>
            </a:r>
            <a:r>
              <a:rPr dirty="0"/>
              <a:t> </a:t>
            </a:r>
            <a:r>
              <a:rPr dirty="0" err="1"/>
              <a:t>другим</a:t>
            </a:r>
            <a:r>
              <a:rPr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783080"/>
            <a:ext cx="6172200" cy="987552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266944" y="1947672"/>
            <a:ext cx="146304" cy="65836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04688" y="1947672"/>
            <a:ext cx="5623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CPU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688" y="2206573"/>
            <a:ext cx="5678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rPr dirty="0" err="1"/>
              <a:t>Ограничение</a:t>
            </a:r>
            <a:r>
              <a:rPr dirty="0"/>
              <a:t> </a:t>
            </a:r>
            <a:r>
              <a:rPr dirty="0" err="1"/>
              <a:t>доли</a:t>
            </a:r>
            <a:r>
              <a:rPr dirty="0"/>
              <a:t> </a:t>
            </a:r>
            <a:r>
              <a:rPr dirty="0" err="1"/>
              <a:t>процессора</a:t>
            </a:r>
            <a:r>
              <a:rPr dirty="0"/>
              <a:t>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rPr dirty="0" err="1"/>
              <a:t>Полезно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фоновых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2971800"/>
            <a:ext cx="6172200" cy="987552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266944" y="3136392"/>
            <a:ext cx="146304" cy="658368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04688" y="3136392"/>
            <a:ext cx="5623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4688" y="3422183"/>
            <a:ext cx="5678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rPr dirty="0" err="1"/>
              <a:t>Жёсткий</a:t>
            </a:r>
            <a:r>
              <a:rPr dirty="0"/>
              <a:t> </a:t>
            </a:r>
            <a:r>
              <a:rPr dirty="0" err="1"/>
              <a:t>предел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rPr dirty="0" err="1"/>
              <a:t>Защищает</a:t>
            </a:r>
            <a:r>
              <a:rPr dirty="0"/>
              <a:t> host </a:t>
            </a:r>
            <a:r>
              <a:rPr dirty="0" err="1"/>
              <a:t>от</a:t>
            </a:r>
            <a:r>
              <a:rPr dirty="0"/>
              <a:t> overuse.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4160520"/>
            <a:ext cx="6172200" cy="987552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266944" y="4325112"/>
            <a:ext cx="146304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04688" y="4325112"/>
            <a:ext cx="5623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PIDs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4688" y="4610906"/>
            <a:ext cx="5678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rPr dirty="0" err="1"/>
              <a:t>Ограничение</a:t>
            </a:r>
            <a:r>
              <a:rPr dirty="0"/>
              <a:t> </a:t>
            </a:r>
            <a:r>
              <a:rPr dirty="0" err="1"/>
              <a:t>числа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dirty="0"/>
              <a:t>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rPr dirty="0" err="1"/>
              <a:t>Снижает</a:t>
            </a:r>
            <a:r>
              <a:rPr dirty="0"/>
              <a:t> </a:t>
            </a:r>
            <a:r>
              <a:rPr dirty="0" err="1"/>
              <a:t>риск</a:t>
            </a:r>
            <a:r>
              <a:rPr dirty="0"/>
              <a:t> fork bomb.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5321808"/>
            <a:ext cx="6172200" cy="749808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85231" y="5468112"/>
            <a:ext cx="5843016" cy="47548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  <a:r>
              <a:t>docker run --cpus=1 --memory=256m --pids-limit=100 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566928"/>
            <a:ext cx="91440" cy="5074920"/>
          </a:xfrm>
          <a:prstGeom prst="rect">
            <a:avLst/>
          </a:prstGeom>
          <a:solidFill>
            <a:srgbClr val="C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Сборка образа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0D1B2A"/>
                </a:solidFill>
                <a:latin typeface="Bahnschrift"/>
              </a:defRPr>
            </a:pPr>
            <a:r>
              <a:t>Dockerfile: описание образа шаг за шагом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63530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C7A89"/>
                </a:solidFill>
                <a:latin typeface="Aptos"/>
              </a:defRPr>
            </a:pPr>
            <a:r>
              <a:rPr dirty="0" err="1"/>
              <a:t>Dockerfile</a:t>
            </a:r>
            <a:r>
              <a:rPr dirty="0"/>
              <a:t> </a:t>
            </a:r>
            <a:r>
              <a:rPr dirty="0" err="1"/>
              <a:t>описывает</a:t>
            </a:r>
            <a:r>
              <a:rPr dirty="0"/>
              <a:t> </a:t>
            </a:r>
            <a:r>
              <a:rPr dirty="0" err="1"/>
              <a:t>сборку</a:t>
            </a:r>
            <a:r>
              <a:rPr dirty="0"/>
              <a:t> </a:t>
            </a:r>
            <a:r>
              <a:rPr dirty="0" err="1"/>
              <a:t>образа</a:t>
            </a:r>
            <a:r>
              <a:rPr dirty="0"/>
              <a:t>.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равен</a:t>
            </a:r>
            <a:r>
              <a:rPr dirty="0"/>
              <a:t> </a:t>
            </a:r>
            <a:r>
              <a:rPr dirty="0" err="1"/>
              <a:t>контейнеру</a:t>
            </a:r>
            <a:r>
              <a:rPr dirty="0"/>
              <a:t> и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запущенного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6C7A89"/>
                </a:solidFill>
                <a:latin typeface="Bahnschrift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91640"/>
            <a:ext cx="4663440" cy="4297680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1837944"/>
            <a:ext cx="4334255" cy="402336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  <a:r>
              <a:t>FROM nginx:stable-alpine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  <a:r>
              <a:t>COPY app/index.html /usr/share/nginx/html/index.html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  <a:r>
              <a:t>EXPOSE 80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1737360"/>
            <a:ext cx="25146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769864" y="1883664"/>
            <a:ext cx="676656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9864" y="1892807"/>
            <a:ext cx="676656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FROM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93852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t>Выбирает базовый образ.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30768" y="1737360"/>
            <a:ext cx="25146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577072" y="1883664"/>
            <a:ext cx="676656" cy="384048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77072" y="1892807"/>
            <a:ext cx="676656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COPY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8" y="193852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t>Копирует файлы из контекста сборки.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0" y="2788920"/>
            <a:ext cx="25146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769864" y="2935224"/>
            <a:ext cx="676656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9864" y="2944368"/>
            <a:ext cx="676656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99008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t>Выполняет команды во время build.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30768" y="2788920"/>
            <a:ext cx="25146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577072" y="2935224"/>
            <a:ext cx="676656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77072" y="2944368"/>
            <a:ext cx="676656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WORKDIR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8" y="299008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t>Задаёт рабочую директорию.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3840480"/>
            <a:ext cx="25146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769864" y="3986784"/>
            <a:ext cx="676656" cy="384048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9864" y="3995928"/>
            <a:ext cx="676656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EXPOSE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04164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t>Документирует порт контейнера.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30768" y="3840480"/>
            <a:ext cx="25146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577072" y="3986784"/>
            <a:ext cx="676656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77072" y="3995928"/>
            <a:ext cx="676656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CMD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5168" y="404164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t>Задаёт команду по умолчанию.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23560" y="5029200"/>
            <a:ext cx="5321808" cy="960120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870448" y="5276088"/>
            <a:ext cx="4800600" cy="41148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7F4EA"/>
                </a:solidFill>
                <a:latin typeface="Aptos"/>
              </a:defRPr>
            </a:pPr>
            <a:r>
              <a:t>Точка в конце docker build -t lesson-site:1.0 . означает текущий контекст сборки.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Интерактив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F7F4EA"/>
                </a:solidFill>
                <a:latin typeface="Bahnschrift"/>
              </a:defRPr>
            </a:pPr>
            <a:r>
              <a:t>Перед командами: сначала прогноз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2495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E9DFC8"/>
                </a:solidFill>
                <a:latin typeface="Aptos"/>
              </a:defRPr>
            </a:pPr>
            <a:r>
              <a:rPr dirty="0" err="1"/>
              <a:t>Этот</a:t>
            </a:r>
            <a:r>
              <a:rPr dirty="0"/>
              <a:t> </a:t>
            </a:r>
            <a:r>
              <a:rPr dirty="0" err="1"/>
              <a:t>слайд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группа</a:t>
            </a:r>
            <a:r>
              <a:rPr dirty="0"/>
              <a:t>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подумала</a:t>
            </a:r>
            <a:r>
              <a:rPr dirty="0"/>
              <a:t>, а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потом</a:t>
            </a:r>
            <a:r>
              <a:rPr dirty="0"/>
              <a:t> </a:t>
            </a:r>
            <a:r>
              <a:rPr dirty="0" err="1"/>
              <a:t>увидела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 в </a:t>
            </a:r>
            <a:r>
              <a:rPr dirty="0" err="1"/>
              <a:t>терминале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83080"/>
            <a:ext cx="4754880" cy="3520440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29384"/>
            <a:ext cx="4425696" cy="324612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1250" b="0">
                <a:solidFill>
                  <a:srgbClr val="F7F4EA"/>
                </a:solidFill>
                <a:latin typeface="Consolas"/>
              </a:defRPr>
            </a:pPr>
            <a:r>
              <a:t>docker run hello-world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50" b="0">
                <a:solidFill>
                  <a:srgbClr val="F7F4EA"/>
                </a:solidFill>
                <a:latin typeface="Consolas"/>
              </a:defRPr>
            </a:pPr>
            <a:endParaRPr/>
          </a:p>
          <a:p>
            <a:pPr algn="l">
              <a:lnSpc>
                <a:spcPct val="110000"/>
              </a:lnSpc>
              <a:spcAft>
                <a:spcPts val="300"/>
              </a:spcAft>
              <a:defRPr sz="1250" b="0">
                <a:solidFill>
                  <a:srgbClr val="F7F4EA"/>
                </a:solidFill>
                <a:latin typeface="Consolas"/>
              </a:defRPr>
            </a:pPr>
            <a:r>
              <a:t>docker ps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50" b="0">
                <a:solidFill>
                  <a:srgbClr val="F7F4EA"/>
                </a:solidFill>
                <a:latin typeface="Consolas"/>
              </a:defRPr>
            </a:pPr>
            <a:endParaRPr/>
          </a:p>
          <a:p>
            <a:pPr algn="l">
              <a:lnSpc>
                <a:spcPct val="110000"/>
              </a:lnSpc>
              <a:spcAft>
                <a:spcPts val="300"/>
              </a:spcAft>
              <a:defRPr sz="1250" b="0">
                <a:solidFill>
                  <a:srgbClr val="F7F4EA"/>
                </a:solidFill>
                <a:latin typeface="Consolas"/>
              </a:defRPr>
            </a:pPr>
            <a:r>
              <a:t>docker ps -a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50" b="0">
                <a:solidFill>
                  <a:srgbClr val="F7F4EA"/>
                </a:solidFill>
                <a:latin typeface="Consolas"/>
              </a:defRPr>
            </a:pPr>
            <a:endParaRPr/>
          </a:p>
          <a:p>
            <a:pPr algn="l">
              <a:lnSpc>
                <a:spcPct val="110000"/>
              </a:lnSpc>
              <a:spcAft>
                <a:spcPts val="300"/>
              </a:spcAft>
              <a:defRPr sz="1250" b="0">
                <a:solidFill>
                  <a:srgbClr val="F7F4EA"/>
                </a:solidFill>
                <a:latin typeface="Consolas"/>
              </a:defRPr>
            </a:pPr>
            <a:r>
              <a:t>docker run -d -p 8080:80 nginx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783080"/>
            <a:ext cx="5486400" cy="132588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44184" y="1947672"/>
            <a:ext cx="146304" cy="996695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81928" y="1884917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спросить</a:t>
            </a:r>
            <a:r>
              <a:rPr dirty="0"/>
              <a:t> у </a:t>
            </a:r>
            <a:r>
              <a:rPr dirty="0" err="1"/>
              <a:t>группы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2134848"/>
            <a:ext cx="4992624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Что</a:t>
            </a:r>
            <a:r>
              <a:rPr dirty="0"/>
              <a:t> Docker </a:t>
            </a:r>
            <a:r>
              <a:rPr dirty="0" err="1"/>
              <a:t>скачает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завершится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видно</a:t>
            </a:r>
            <a:r>
              <a:rPr dirty="0"/>
              <a:t> в docker </a:t>
            </a:r>
            <a:r>
              <a:rPr dirty="0" err="1"/>
              <a:t>ps</a:t>
            </a:r>
            <a:r>
              <a:rPr dirty="0"/>
              <a:t>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останется</a:t>
            </a:r>
            <a:r>
              <a:rPr dirty="0"/>
              <a:t> </a:t>
            </a:r>
            <a:r>
              <a:rPr dirty="0" err="1"/>
              <a:t>работать</a:t>
            </a:r>
            <a:r>
              <a:rPr dirty="0"/>
              <a:t> в </a:t>
            </a:r>
            <a:r>
              <a:rPr dirty="0" err="1"/>
              <a:t>фоне</a:t>
            </a:r>
            <a:r>
              <a:rPr dirty="0"/>
              <a:t>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3337560"/>
            <a:ext cx="5486400" cy="132588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044184" y="3502152"/>
            <a:ext cx="146304" cy="996695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1928" y="3502152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Какие идеи здесь закрепляются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3904487"/>
            <a:ext cx="4992624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rPr dirty="0"/>
              <a:t>Image vs container, </a:t>
            </a:r>
            <a:r>
              <a:rPr dirty="0" err="1"/>
              <a:t>жизненный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 </a:t>
            </a:r>
            <a:r>
              <a:rPr dirty="0" err="1"/>
              <a:t>контейнера</a:t>
            </a:r>
            <a:r>
              <a:rPr dirty="0"/>
              <a:t>, </a:t>
            </a:r>
            <a:r>
              <a:rPr dirty="0" err="1"/>
              <a:t>публикация</a:t>
            </a:r>
            <a:r>
              <a:rPr dirty="0"/>
              <a:t> </a:t>
            </a:r>
            <a:r>
              <a:rPr dirty="0" err="1"/>
              <a:t>порта</a:t>
            </a:r>
            <a:r>
              <a:rPr dirty="0"/>
              <a:t> и </a:t>
            </a:r>
            <a:r>
              <a:rPr dirty="0" err="1"/>
              <a:t>разница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завершившимся</a:t>
            </a:r>
            <a:r>
              <a:rPr dirty="0"/>
              <a:t> и </a:t>
            </a:r>
            <a:r>
              <a:rPr dirty="0" err="1"/>
              <a:t>активным</a:t>
            </a:r>
            <a:r>
              <a:rPr dirty="0"/>
              <a:t> </a:t>
            </a:r>
            <a:r>
              <a:rPr dirty="0" err="1"/>
              <a:t>контейнером</a:t>
            </a:r>
            <a:r>
              <a:rPr dirty="0"/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4983480"/>
            <a:ext cx="5486400" cy="713232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63056" y="5103784"/>
            <a:ext cx="4983480" cy="256032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1">
                <a:solidFill>
                  <a:srgbClr val="F7F4EA"/>
                </a:solidFill>
                <a:latin typeface="Aptos"/>
              </a:defRPr>
            </a:pPr>
            <a:r>
              <a:rPr dirty="0" err="1"/>
              <a:t>Лучший</a:t>
            </a:r>
            <a:r>
              <a:rPr dirty="0"/>
              <a:t> </a:t>
            </a:r>
            <a:r>
              <a:rPr dirty="0" err="1"/>
              <a:t>эффект</a:t>
            </a:r>
            <a:r>
              <a:rPr dirty="0"/>
              <a:t>: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прогноз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, </a:t>
            </a:r>
            <a:r>
              <a:rPr dirty="0" err="1"/>
              <a:t>потом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dirty="0"/>
              <a:t>, </a:t>
            </a:r>
            <a:r>
              <a:rPr dirty="0" err="1"/>
              <a:t>потом</a:t>
            </a:r>
            <a:r>
              <a:rPr dirty="0"/>
              <a:t> </a:t>
            </a:r>
            <a:r>
              <a:rPr dirty="0" err="1"/>
              <a:t>короткий</a:t>
            </a:r>
            <a:r>
              <a:rPr dirty="0"/>
              <a:t> </a:t>
            </a:r>
            <a:r>
              <a:rPr dirty="0" err="1"/>
              <a:t>разбор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Живая демонстрация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F7F4EA"/>
                </a:solidFill>
                <a:latin typeface="Bahnschrift"/>
              </a:defRPr>
            </a:pPr>
            <a:r>
              <a:t>Демо 1: первый контейнер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7671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E9DFC8"/>
                </a:solidFill>
                <a:latin typeface="Aptos"/>
              </a:defRPr>
            </a:pPr>
            <a:r>
              <a:rPr dirty="0" err="1"/>
              <a:t>Самый</a:t>
            </a:r>
            <a:r>
              <a:rPr dirty="0"/>
              <a:t> </a:t>
            </a:r>
            <a:r>
              <a:rPr dirty="0" err="1"/>
              <a:t>быстрый</a:t>
            </a:r>
            <a:r>
              <a:rPr dirty="0"/>
              <a:t> </a:t>
            </a:r>
            <a:r>
              <a:rPr dirty="0" err="1"/>
              <a:t>способ</a:t>
            </a:r>
            <a:r>
              <a:rPr dirty="0"/>
              <a:t> </a:t>
            </a:r>
            <a:r>
              <a:rPr dirty="0" err="1"/>
              <a:t>показать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образ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скачать</a:t>
            </a:r>
            <a:r>
              <a:rPr dirty="0"/>
              <a:t> и </a:t>
            </a:r>
            <a:r>
              <a:rPr dirty="0" err="1"/>
              <a:t>выполнить</a:t>
            </a:r>
            <a:r>
              <a:rPr dirty="0"/>
              <a:t> </a:t>
            </a:r>
            <a:r>
              <a:rPr dirty="0" err="1"/>
              <a:t>одной</a:t>
            </a:r>
            <a:r>
              <a:rPr dirty="0"/>
              <a:t> </a:t>
            </a:r>
            <a:r>
              <a:rPr dirty="0" err="1"/>
              <a:t>командой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91640"/>
            <a:ext cx="4892040" cy="3246120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837944"/>
            <a:ext cx="4562855" cy="297180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  <a:r>
              <a:t>docker run hello-world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  <a:endParaRPr/>
          </a:p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  <a:r>
              <a:t>docker ps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  <a:endParaRPr/>
          </a:p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  <a:r>
              <a:t>docker ps -a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737360"/>
            <a:ext cx="5440680" cy="242316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35624" y="1901952"/>
            <a:ext cx="146304" cy="209397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1901952"/>
            <a:ext cx="4892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Что объяснить студентам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304288"/>
            <a:ext cx="4946904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• Образ может скачаться автоматически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• Контейнер может завершиться сразу после своей команды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• docker ps показывает активные контейнеры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• docker ps -a показывает все контейнеры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5257800"/>
            <a:ext cx="4892040" cy="658368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5386890"/>
            <a:ext cx="4480560" cy="18288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F7F4EA"/>
                </a:solidFill>
                <a:latin typeface="Aptos"/>
              </a:defRPr>
            </a:pPr>
            <a:r>
              <a:rPr dirty="0" err="1"/>
              <a:t>Ключевой</a:t>
            </a:r>
            <a:r>
              <a:rPr dirty="0"/>
              <a:t> </a:t>
            </a:r>
            <a:r>
              <a:rPr dirty="0" err="1"/>
              <a:t>вывод</a:t>
            </a:r>
            <a:r>
              <a:rPr dirty="0"/>
              <a:t>: container != image, а </a:t>
            </a:r>
            <a:r>
              <a:rPr dirty="0" err="1"/>
              <a:t>завершившийся</a:t>
            </a:r>
            <a:r>
              <a:rPr dirty="0"/>
              <a:t> container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пропадает</a:t>
            </a:r>
            <a:r>
              <a:rPr dirty="0"/>
              <a:t> </a:t>
            </a:r>
            <a:r>
              <a:rPr dirty="0" err="1"/>
              <a:t>сам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списка</a:t>
            </a:r>
            <a:r>
              <a:rPr dirty="0"/>
              <a:t> all.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5257800"/>
            <a:ext cx="5440680" cy="658368"/>
          </a:xfrm>
          <a:prstGeom prst="roundRect">
            <a:avLst/>
          </a:prstGeom>
          <a:solidFill>
            <a:srgbClr val="F4A261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72784" y="5386890"/>
            <a:ext cx="4892040" cy="18288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1">
                <a:solidFill>
                  <a:srgbClr val="0D1B2A"/>
                </a:solidFill>
                <a:latin typeface="Aptos"/>
              </a:defRPr>
            </a:pPr>
            <a:r>
              <a:rPr dirty="0" err="1"/>
              <a:t>Вопрос</a:t>
            </a:r>
            <a:r>
              <a:rPr dirty="0"/>
              <a:t> </a:t>
            </a:r>
            <a:r>
              <a:rPr dirty="0" err="1"/>
              <a:t>аудитории</a:t>
            </a:r>
            <a:r>
              <a:rPr dirty="0"/>
              <a:t>: </a:t>
            </a:r>
            <a:r>
              <a:rPr dirty="0" err="1"/>
              <a:t>почему</a:t>
            </a:r>
            <a:r>
              <a:rPr dirty="0"/>
              <a:t> hello-world </a:t>
            </a:r>
            <a:r>
              <a:rPr dirty="0" err="1"/>
              <a:t>завершился</a:t>
            </a:r>
            <a:r>
              <a:rPr dirty="0"/>
              <a:t>, а </a:t>
            </a:r>
            <a:r>
              <a:rPr dirty="0" err="1"/>
              <a:t>nginx</a:t>
            </a:r>
            <a:r>
              <a:rPr dirty="0"/>
              <a:t>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работать</a:t>
            </a:r>
            <a:r>
              <a:rPr dirty="0"/>
              <a:t> </a:t>
            </a:r>
            <a:r>
              <a:rPr dirty="0" err="1"/>
              <a:t>дальше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566928"/>
            <a:ext cx="91440" cy="5074920"/>
          </a:xfrm>
          <a:prstGeom prst="rect">
            <a:avLst/>
          </a:prstGeom>
          <a:solidFill>
            <a:srgbClr val="C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Живая демонстрация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0D1B2A"/>
                </a:solidFill>
                <a:latin typeface="Bahnschrift"/>
              </a:defRPr>
            </a:pPr>
            <a:r>
              <a:t>Демо 2: веб-контейнер на 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C7A89"/>
                </a:solidFill>
                <a:latin typeface="Aptos"/>
              </a:defRPr>
            </a:pPr>
            <a:r>
              <a:t>Здесь удобно показать долгоживущий контейнер, проброс порта и работу логов.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6C7A89"/>
                </a:solidFill>
                <a:latin typeface="Bahnschrift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4754880" cy="3456432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929384"/>
            <a:ext cx="4425696" cy="3182112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docker run -d --name demo-nginx \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  -p 8080:80 nginx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endParaRPr/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docker ps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endParaRPr/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docker logs demo-nginx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endParaRPr/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docker stop demo-nginx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docker rm demo-nginx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783080"/>
            <a:ext cx="5120640" cy="2971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97880" y="1783080"/>
            <a:ext cx="5120640" cy="420624"/>
          </a:xfrm>
          <a:prstGeom prst="rect">
            <a:avLst/>
          </a:prstGeom>
          <a:solidFill>
            <a:srgbClr val="EEF3F7"/>
          </a:solidFill>
          <a:ln w="1524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89320" y="1874519"/>
            <a:ext cx="100584" cy="100584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117336" y="1874519"/>
            <a:ext cx="100584" cy="100584"/>
          </a:xfrm>
          <a:prstGeom prst="ellipse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245352" y="1874519"/>
            <a:ext cx="100584" cy="10058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56248" y="1856231"/>
            <a:ext cx="4206240" cy="228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47688" y="1874519"/>
            <a:ext cx="402335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000" b="0">
                <a:solidFill>
                  <a:srgbClr val="6C7A89"/>
                </a:solidFill>
                <a:latin typeface="Aptos"/>
              </a:defRPr>
            </a:pPr>
            <a:r>
              <a:t>http://localhost:8080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560320"/>
            <a:ext cx="4480559" cy="64008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2200" b="1">
                <a:solidFill>
                  <a:srgbClr val="0D1B2A"/>
                </a:solidFill>
                <a:latin typeface="Bahnschrift"/>
              </a:defRPr>
            </a:pPr>
            <a:r>
              <a:t>Nginx отвечает на localhost:8080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55848"/>
            <a:ext cx="4114800" cy="59436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C7A89"/>
                </a:solidFill>
                <a:latin typeface="Aptos"/>
              </a:defRPr>
            </a:pPr>
            <a:r>
              <a:t>Покажите связку host 8080 -&gt; container 80 и попросите студентов открыть страницу.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4023360"/>
            <a:ext cx="2651759" cy="530352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0" y="4133087"/>
            <a:ext cx="24688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Контейнер запущен и отвечает по HTTP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13248"/>
            <a:ext cx="4754880" cy="566928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559552"/>
            <a:ext cx="4389120" cy="18288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50" b="0">
                <a:solidFill>
                  <a:srgbClr val="F7F4EA"/>
                </a:solidFill>
                <a:latin typeface="Aptos"/>
              </a:defRPr>
            </a:pPr>
            <a:r>
              <a:t>Отдельно проговорите флаг -d: контейнер работает в фоне.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880" y="5230368"/>
            <a:ext cx="512064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44768" y="5413248"/>
            <a:ext cx="4617720" cy="420624"/>
          </a:xfrm>
          <a:prstGeom prst="rect">
            <a:avLst/>
          </a:prstGeom>
          <a:noFill/>
        </p:spPr>
        <p:txBody>
          <a:bodyPr wrap="square" lIns="101600" tIns="76200" rIns="101600" bIns="762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50" b="1">
                <a:solidFill>
                  <a:srgbClr val="0D1B2A"/>
                </a:solidFill>
                <a:latin typeface="Aptos"/>
              </a:defRPr>
            </a:pPr>
            <a:r>
              <a:t>Проверьте у группы: зачем нужен docker logs,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  <a:defRPr sz="1050" b="1">
                <a:solidFill>
                  <a:srgbClr val="0D1B2A"/>
                </a:solidFill>
                <a:latin typeface="Aptos"/>
              </a:defRPr>
            </a:pPr>
            <a:r>
              <a:t>если страница уже открывается в браузере?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566928"/>
            <a:ext cx="91440" cy="5074920"/>
          </a:xfrm>
          <a:prstGeom prst="rect">
            <a:avLst/>
          </a:prstGeom>
          <a:solidFill>
            <a:srgbClr val="C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Перед практикой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0D1B2A"/>
                </a:solidFill>
                <a:latin typeface="Bahnschrift"/>
              </a:defRPr>
            </a:pPr>
            <a:r>
              <a:t>Типичные ошибки новичка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C7A89"/>
                </a:solidFill>
                <a:latin typeface="Aptos"/>
              </a:defRPr>
            </a:pPr>
            <a:r>
              <a:t>Перед самостоятельной практикой полезно заранее снять самые частые сбои, чтобы группа не паниковала на мелочах.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6C7A89"/>
                </a:solidFill>
                <a:latin typeface="Bahnschrift"/>
              </a:defRPr>
            </a:pPr>
            <a: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49377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" y="1947672"/>
            <a:ext cx="146304" cy="63093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2415" y="1947672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Путают image и container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2350008"/>
            <a:ext cx="444398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Удалили контейнер и думают, что образ тоже исчез.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50992" y="1783080"/>
            <a:ext cx="49377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797296" y="1947672"/>
            <a:ext cx="146304" cy="630936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1947672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Забывают точку в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350008"/>
            <a:ext cx="444398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Docker не видит контекст сборки и команда ломается.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971800"/>
            <a:ext cx="49377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4672" y="3136392"/>
            <a:ext cx="146304" cy="630936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2415" y="3136392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Переоценивают EXPOSE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5" y="3538728"/>
            <a:ext cx="444398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Ожидают, что порт откроется без флага -p.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50992" y="2971800"/>
            <a:ext cx="49377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797296" y="3136392"/>
            <a:ext cx="146304" cy="63093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35040" y="3136392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Не пересобирают образ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538728"/>
            <a:ext cx="444398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Изменили HTML, а в браузере всё ещё старая страница.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160520"/>
            <a:ext cx="49377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4672" y="4325112"/>
            <a:ext cx="146304" cy="630936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2415" y="4325112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Открывают не тот порт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5" y="4727448"/>
            <a:ext cx="444398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В команде один порт, в браузере пытаются открыть другой.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50992" y="4160520"/>
            <a:ext cx="49377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797296" y="4325112"/>
            <a:ext cx="146304" cy="630936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35040" y="4325112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Не читают текст ошибки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727448"/>
            <a:ext cx="444398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Говорят 'Docker не работает', не посмотрев сообщение терминала.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32120"/>
            <a:ext cx="10844784" cy="530352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6112" y="5678424"/>
            <a:ext cx="10332720" cy="18288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1">
                <a:solidFill>
                  <a:srgbClr val="F7F4EA"/>
                </a:solidFill>
                <a:latin typeface="Aptos"/>
              </a:defRPr>
            </a:pPr>
            <a:r>
              <a:t>Полезная формула для группы: сначала читаем текст ошибки, потом проверяем путь, имя, порт и контекст сборки.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Практика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F7F4EA"/>
                </a:solidFill>
                <a:latin typeface="Bahnschrift"/>
              </a:defRPr>
            </a:pPr>
            <a:r>
              <a:t>Практика: собираем свой образ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E9DFC8"/>
                </a:solidFill>
                <a:latin typeface="Aptos"/>
              </a:defRPr>
            </a:pPr>
            <a:r>
              <a:t>Финальная часть урока: слушатели создают свою страницу, собирают образ и запускают контейнер.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93392"/>
            <a:ext cx="2971800" cy="105156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32688" y="2157984"/>
            <a:ext cx="420624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167128"/>
            <a:ext cx="420624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2157984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400" b="1">
                <a:solidFill>
                  <a:srgbClr val="0D1B2A"/>
                </a:solidFill>
                <a:latin typeface="Bahnschrift"/>
              </a:defRPr>
            </a:pPr>
            <a:r>
              <a:t>Создать файлы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523744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t>index.html, Dockerfile и папку 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5072" y="1993392"/>
            <a:ext cx="2971800" cy="105156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187952" y="2157984"/>
            <a:ext cx="420624" cy="384048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87952" y="2167128"/>
            <a:ext cx="420624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157984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400" b="1">
                <a:solidFill>
                  <a:srgbClr val="0D1B2A"/>
                </a:solidFill>
                <a:latin typeface="Bahnschrift"/>
              </a:defRPr>
            </a:pPr>
            <a:r>
              <a:t>Собрать 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2523744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t>docker build -t lesson-site:1.0 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0336" y="1993392"/>
            <a:ext cx="2971800" cy="105156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443216" y="2157984"/>
            <a:ext cx="420624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43216" y="2167128"/>
            <a:ext cx="420624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2157984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400" b="1">
                <a:solidFill>
                  <a:srgbClr val="0D1B2A"/>
                </a:solidFill>
                <a:latin typeface="Bahnschrift"/>
              </a:defRPr>
            </a:pPr>
            <a:r>
              <a:t>Запустить container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2523744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t>docker run -d -p 8080:80 lesson-site:1.0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3154680"/>
            <a:ext cx="4160520" cy="2907792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3328416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600" b="1">
                <a:solidFill>
                  <a:srgbClr val="0D1B2A"/>
                </a:solidFill>
                <a:latin typeface="Bahnschrift"/>
              </a:defRPr>
            </a:pPr>
            <a:r>
              <a:t>Структура практики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" y="3657600"/>
            <a:ext cx="3794760" cy="1188720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3803904"/>
            <a:ext cx="3465576" cy="91440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1080" b="0">
                <a:solidFill>
                  <a:srgbClr val="F7F4EA"/>
                </a:solidFill>
                <a:latin typeface="Consolas"/>
              </a:defRPr>
            </a:pPr>
            <a:r>
              <a:rPr dirty="0"/>
              <a:t>docker-lesson-1/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080" b="0">
                <a:solidFill>
                  <a:srgbClr val="F7F4EA"/>
                </a:solidFill>
                <a:latin typeface="Consolas"/>
              </a:defRPr>
            </a:pPr>
            <a:r>
              <a:rPr dirty="0"/>
              <a:t>  app/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080" b="0">
                <a:solidFill>
                  <a:srgbClr val="F7F4EA"/>
                </a:solidFill>
                <a:latin typeface="Consolas"/>
              </a:defRPr>
            </a:pPr>
            <a:r>
              <a:rPr dirty="0"/>
              <a:t>    index.html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080" b="0">
                <a:solidFill>
                  <a:srgbClr val="F7F4EA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Dockerfile</a:t>
            </a:r>
            <a:endParaRPr dirty="0"/>
          </a:p>
        </p:txBody>
      </p:sp>
      <p:sp>
        <p:nvSpPr>
          <p:cNvPr id="29" name="Rounded Rectangle 28"/>
          <p:cNvSpPr/>
          <p:nvPr/>
        </p:nvSpPr>
        <p:spPr>
          <a:xfrm>
            <a:off x="932688" y="4956048"/>
            <a:ext cx="3794760" cy="987552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7280" y="5102352"/>
            <a:ext cx="3465576" cy="713232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980" b="0">
                <a:solidFill>
                  <a:srgbClr val="F7F4EA"/>
                </a:solidFill>
                <a:latin typeface="Consolas"/>
              </a:defRPr>
            </a:pPr>
            <a:r>
              <a:rPr dirty="0"/>
              <a:t>FROM </a:t>
            </a:r>
            <a:r>
              <a:rPr dirty="0" err="1"/>
              <a:t>nginx:stable-alpine</a:t>
            </a:r>
            <a:endParaRPr dirty="0"/>
          </a:p>
          <a:p>
            <a:pPr algn="l">
              <a:lnSpc>
                <a:spcPct val="110000"/>
              </a:lnSpc>
              <a:spcAft>
                <a:spcPts val="300"/>
              </a:spcAft>
              <a:defRPr sz="980" b="0">
                <a:solidFill>
                  <a:srgbClr val="F7F4EA"/>
                </a:solidFill>
                <a:latin typeface="Consolas"/>
              </a:defRPr>
            </a:pPr>
            <a:r>
              <a:rPr dirty="0"/>
              <a:t>COPY app/index.html /</a:t>
            </a:r>
            <a:r>
              <a:rPr dirty="0" err="1"/>
              <a:t>usr</a:t>
            </a:r>
            <a:r>
              <a:rPr dirty="0"/>
              <a:t>/share/</a:t>
            </a:r>
            <a:r>
              <a:rPr dirty="0" err="1"/>
              <a:t>nginx</a:t>
            </a:r>
            <a:r>
              <a:rPr dirty="0"/>
              <a:t>/html/index.html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980" b="0">
                <a:solidFill>
                  <a:srgbClr val="F7F4EA"/>
                </a:solidFill>
                <a:latin typeface="Consolas"/>
              </a:defRPr>
            </a:pPr>
            <a:r>
              <a:rPr dirty="0"/>
              <a:t>EXPOSE 80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6360" y="3154680"/>
            <a:ext cx="6126480" cy="2907792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13248" y="3328416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600" b="1">
                <a:solidFill>
                  <a:srgbClr val="0D1B2A"/>
                </a:solidFill>
                <a:latin typeface="Bahnschrift"/>
              </a:defRPr>
            </a:pPr>
            <a:r>
              <a:t>Команды и результат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13248" y="3657600"/>
            <a:ext cx="5486400" cy="1078992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77840" y="3803904"/>
            <a:ext cx="5157216" cy="804671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1080" b="0">
                <a:solidFill>
                  <a:srgbClr val="F7F4EA"/>
                </a:solidFill>
                <a:latin typeface="Consolas"/>
              </a:defRPr>
            </a:pPr>
            <a:r>
              <a:rPr dirty="0"/>
              <a:t>docker build -t lesson-site:1.0 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080" b="0">
                <a:solidFill>
                  <a:srgbClr val="F7F4EA"/>
                </a:solidFill>
                <a:latin typeface="Consolas"/>
              </a:defRPr>
            </a:pPr>
            <a:endParaRPr dirty="0"/>
          </a:p>
          <a:p>
            <a:pPr algn="l">
              <a:lnSpc>
                <a:spcPct val="110000"/>
              </a:lnSpc>
              <a:spcAft>
                <a:spcPts val="300"/>
              </a:spcAft>
              <a:defRPr sz="1080" b="0">
                <a:solidFill>
                  <a:srgbClr val="F7F4EA"/>
                </a:solidFill>
                <a:latin typeface="Consolas"/>
              </a:defRPr>
            </a:pPr>
            <a:r>
              <a:rPr dirty="0"/>
              <a:t>docker run -d --name lesson-site -p 8080:80 lesson-site:1.0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13248" y="4882896"/>
            <a:ext cx="548640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50992" y="4992624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930" b="1">
                <a:solidFill>
                  <a:srgbClr val="2A9D8F"/>
                </a:solidFill>
                <a:latin typeface="Aptos"/>
              </a:defRPr>
            </a:pPr>
            <a:r>
              <a:t>Результат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50992" y="5175504"/>
            <a:ext cx="4800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1">
                <a:solidFill>
                  <a:srgbClr val="0D1B2A"/>
                </a:solidFill>
                <a:latin typeface="Aptos"/>
              </a:defRPr>
            </a:pPr>
            <a:r>
              <a:t>Открывается своя страница на http://localhost:8080.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50992" y="5413248"/>
            <a:ext cx="4800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919" b="0">
                <a:solidFill>
                  <a:srgbClr val="6C7A89"/>
                </a:solidFill>
                <a:latin typeface="Aptos"/>
              </a:defRPr>
            </a:pPr>
            <a:r>
              <a:t>После изменения index.html образ нужно пересобрать.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Самостоятельная практика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F7F4EA"/>
                </a:solidFill>
                <a:latin typeface="Bahnschrift"/>
              </a:defRPr>
            </a:pPr>
            <a:r>
              <a:t>Мини-кейс: найдите и исправьте ошибку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E9DFC8"/>
                </a:solidFill>
                <a:latin typeface="Aptos"/>
              </a:defRPr>
            </a:pPr>
            <a:r>
              <a:t>Здесь группа выходит из режима повтора и впервые решает маленькую проблему самостоятельно.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83080"/>
            <a:ext cx="4709160" cy="3246120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29384"/>
            <a:ext cx="4379976" cy="297180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FROM nginx:stable-alpine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COPY app/home.html /usr/share/nginx/html/index.html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EXPOSE 80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CMD ["nginx", "-g", "daemon off;"]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783080"/>
            <a:ext cx="5577840" cy="141732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52744" y="1947672"/>
            <a:ext cx="146304" cy="108813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90488" y="1947672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Что дать группе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350008"/>
            <a:ext cx="5084064" cy="722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Папку с почти правильным проектом. Ошибка одна и намеренная. Задача: попробовать собрать образ, прочитать сообщение и найти причину.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429000"/>
            <a:ext cx="5577840" cy="141732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952744" y="3593592"/>
            <a:ext cx="146304" cy="1088136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90488" y="3593592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Какие вопросы задавать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3995928"/>
            <a:ext cx="5084064" cy="722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• Что пишет терминал?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• На какой строке проблема?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• Существует ли файл, указанный в COPY?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358384"/>
            <a:ext cx="10634472" cy="566928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5522976"/>
            <a:ext cx="10149840" cy="18288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1">
                <a:solidFill>
                  <a:srgbClr val="F7F4EA"/>
                </a:solidFill>
                <a:latin typeface="Aptos"/>
              </a:defRPr>
            </a:pPr>
            <a:r>
              <a:t>Главный вывод: первые ошибки в Docker чаще всего не магические, а буквальные и читаются по сообщению терминала.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566928"/>
            <a:ext cx="91440" cy="5074920"/>
          </a:xfrm>
          <a:prstGeom prst="rect">
            <a:avLst/>
          </a:prstGeom>
          <a:solidFill>
            <a:srgbClr val="C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Итоги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0D1B2A"/>
                </a:solidFill>
                <a:latin typeface="Bahnschrift"/>
              </a:defRPr>
            </a:pPr>
            <a:r>
              <a:t>После урока слушатель умеет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C7A89"/>
                </a:solidFill>
                <a:latin typeface="Aptos"/>
              </a:defRPr>
            </a:pPr>
            <a:r>
              <a:t>Этим слайдом удобно завершить основной рассказ и зафиксировать получившиеся навыки.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6C7A89"/>
                </a:solidFill>
                <a:latin typeface="Bahnschrift"/>
              </a:defRPr>
            </a:pPr>
            <a: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59" y="1947672"/>
            <a:ext cx="84124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1956815"/>
            <a:ext cx="841248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Объяснить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404872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что такое контейнеризация и зачем она нужна.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13632" y="178308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078224" y="1947672"/>
            <a:ext cx="841248" cy="384048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78224" y="1956815"/>
            <a:ext cx="841248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Различать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404872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image, container, registry и Dockerfile.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68896" y="178308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33488" y="1947672"/>
            <a:ext cx="841248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33488" y="1956815"/>
            <a:ext cx="841248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Описать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0064" y="2404872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роль CLI, daemon, Engine и runtime.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42900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2959" y="3593592"/>
            <a:ext cx="841248" cy="384048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59" y="3602736"/>
            <a:ext cx="841248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Понимать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4050791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бытовую идею namespaces и cgroups.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13632" y="342900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078224" y="3593592"/>
            <a:ext cx="84124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78224" y="3602736"/>
            <a:ext cx="841248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Запускать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050791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готовый контейнер и смотреть его логи.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68896" y="342900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333488" y="3593592"/>
            <a:ext cx="841248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33488" y="3602736"/>
            <a:ext cx="841248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Собирать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0064" y="4050791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свой образ через docker build.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321808"/>
            <a:ext cx="10844784" cy="658368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5513832"/>
            <a:ext cx="10241280" cy="22860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1">
                <a:solidFill>
                  <a:srgbClr val="F7F4EA"/>
                </a:solidFill>
                <a:latin typeface="Aptos"/>
              </a:defRPr>
            </a:pPr>
            <a:r>
              <a:t>Типичные ошибки новичка: путать image и container, забывать проброс порта, менять файлы без пересборки образа.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Финиш урока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F7F4EA"/>
                </a:solidFill>
                <a:latin typeface="Bahnschrift"/>
              </a:defRPr>
            </a:pPr>
            <a:r>
              <a:t>Проверка понимания и домашнее задание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E9DFC8"/>
                </a:solidFill>
                <a:latin typeface="Aptos"/>
              </a:defRPr>
            </a:pPr>
            <a:r>
              <a:t>Финал урока: быстро проверить понимание, а затем дать маленький законченный практический кейс.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5074920" cy="393192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074920" cy="393192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2084831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700" b="1">
                <a:solidFill>
                  <a:srgbClr val="0D1B2A"/>
                </a:solidFill>
                <a:latin typeface="Bahnschrift"/>
              </a:defRPr>
            </a:pPr>
            <a:r>
              <a:t>Контрольные вопросы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450592"/>
            <a:ext cx="452628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1. Что такое контейнеризация и какую проблему она решает?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2. Чем container отличается от image?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3. Какую роль играют namespaces?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4. Для чего нужны cgroups?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5. Что описывает Dockerfile?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6. Что произойдёт после docker build?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084831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700" b="1">
                <a:solidFill>
                  <a:srgbClr val="0D1B2A"/>
                </a:solidFill>
                <a:latin typeface="Bahnschrift"/>
              </a:defRPr>
            </a:pPr>
            <a:r>
              <a:t>Домашнее задание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450592"/>
            <a:ext cx="452628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1. Создать свою HTML-страницу.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2. Написать Dockerfile на базе nginx.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3. Собрать образ и запустить контейнер на локальном порту.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4. Подготовить скриншот страницы и текст Dockerfile.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5. По желанию: сменить тег образа и имя контейнера.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10149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950" b="0">
                <a:solidFill>
                  <a:srgbClr val="E9DFC8"/>
                </a:solidFill>
                <a:latin typeface="Aptos"/>
              </a:defRPr>
            </a:pPr>
            <a:r>
              <a:t>Следующий урок: Docker volumes, Networks in Docker, инспекция Docker и логирование, multi-stage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2003</Words>
  <Application>Microsoft Office PowerPoint</Application>
  <PresentationFormat>Широкоэкранный</PresentationFormat>
  <Paragraphs>344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Aptos</vt:lpstr>
      <vt:lpstr>Arial</vt:lpstr>
      <vt:lpstr>Bahnschrift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struzkinaa@outlook.com</cp:lastModifiedBy>
  <cp:revision>2</cp:revision>
  <dcterms:created xsi:type="dcterms:W3CDTF">2013-01-27T09:14:16Z</dcterms:created>
  <dcterms:modified xsi:type="dcterms:W3CDTF">2026-03-23T09:19:16Z</dcterms:modified>
  <cp:category/>
</cp:coreProperties>
</file>