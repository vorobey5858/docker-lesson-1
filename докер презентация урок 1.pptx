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512064"/>
            <a:ext cx="26060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21208"/>
            <a:ext cx="26060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Урок для начинающих ИТ-специалистов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760720" cy="14173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800" b="1">
                <a:solidFill>
                  <a:srgbClr val="F7F4EA"/>
                </a:solidFill>
                <a:latin typeface="Bahnschrift"/>
              </a:defRPr>
            </a:pPr>
            <a:r>
              <a:t>Docker 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2800" b="1">
                <a:solidFill>
                  <a:srgbClr val="F7F4EA"/>
                </a:solidFill>
                <a:latin typeface="Bahnschrift"/>
              </a:defRPr>
            </a:pPr>
            <a:r>
              <a:t>контейнеризация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670048"/>
            <a:ext cx="521208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E9DFC8"/>
                </a:solidFill>
                <a:latin typeface="Aptos"/>
              </a:defRPr>
            </a:pPr>
            <a:r>
              <a:t>Контейнеры, Docker Engine, изоляция и первый Dockerfile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694176"/>
            <a:ext cx="1097280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3703320"/>
            <a:ext cx="109728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Теория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1952" y="3694176"/>
            <a:ext cx="1417320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01952" y="3703320"/>
            <a:ext cx="141732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Демонстрация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694176"/>
            <a:ext cx="1170432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3703320"/>
            <a:ext cx="117043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Практика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54880"/>
            <a:ext cx="5166360" cy="105156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4956048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7C873"/>
                </a:solidFill>
                <a:latin typeface="Aptos"/>
              </a:defRPr>
            </a:pPr>
            <a:r>
              <a:t>Результат урока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19379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Aptos"/>
              </a:defRPr>
            </a:pPr>
            <a:r>
              <a:t>Слушатели понимают, зачем нужна контейнеризация, и умеют собрать первый образ.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2297" y="1005840"/>
            <a:ext cx="3291840" cy="621792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92297" y="1106424"/>
            <a:ext cx="3291840" cy="512064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Исходный код приложения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17977" y="1783080"/>
            <a:ext cx="3840480" cy="658368"/>
          </a:xfrm>
          <a:prstGeom prst="roundRect">
            <a:avLst/>
          </a:prstGeom>
          <a:solidFill>
            <a:srgbClr val="536B86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17977" y="1883664"/>
            <a:ext cx="3840480" cy="548640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Зависимости и файлы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89377" y="2633472"/>
            <a:ext cx="4297680" cy="749808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89377" y="2734056"/>
            <a:ext cx="4297680" cy="640080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Образ: immutable шаблон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5057" y="3611880"/>
            <a:ext cx="4846320" cy="74980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5057" y="3712464"/>
            <a:ext cx="4846320" cy="640080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Контейнер: запущенный экземпляр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6457" y="4590288"/>
            <a:ext cx="5303520" cy="80467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6457" y="4690872"/>
            <a:ext cx="5303520" cy="694944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Runtime + host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59612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E9DFC8"/>
                </a:solidFill>
                <a:latin typeface="Aptos"/>
              </a:defRPr>
            </a:pPr>
            <a:r>
              <a:t>Один подход для разработки, теста и продакшна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План занятия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Маршрут урока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767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занятия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110-120 </a:t>
            </a:r>
            <a:r>
              <a:rPr dirty="0" err="1"/>
              <a:t>минут</a:t>
            </a:r>
            <a:r>
              <a:rPr dirty="0"/>
              <a:t>: </a:t>
            </a:r>
            <a:r>
              <a:rPr dirty="0" err="1"/>
              <a:t>теория</a:t>
            </a:r>
            <a:r>
              <a:rPr dirty="0"/>
              <a:t>, </a:t>
            </a:r>
            <a:r>
              <a:rPr dirty="0" err="1"/>
              <a:t>живая</a:t>
            </a:r>
            <a:r>
              <a:rPr dirty="0"/>
              <a:t> </a:t>
            </a:r>
            <a:r>
              <a:rPr dirty="0" err="1"/>
              <a:t>демонстрация</a:t>
            </a:r>
            <a:r>
              <a:rPr dirty="0"/>
              <a:t> и </a:t>
            </a:r>
            <a:r>
              <a:rPr dirty="0" err="1"/>
              <a:t>практика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183794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184708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0-10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258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Введение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0604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Что изучаем, где контейнеры применяются и зачем тема важна.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169164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78224" y="183794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78224" y="184708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10-25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258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Контейнеризация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260604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Проблема окружений, воспроизводимость, отличие от VM.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8896" y="169164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33488" y="183794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33488" y="184708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25-45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5" y="225856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Архитектура 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75" y="260604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CLI, daemon, Engine, image, registry, runtime.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5760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59" y="380390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381304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45-60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Изоляция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57200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Namespaces и cgroups без перегруза теорией ядра Linux.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65760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078224" y="380390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78224" y="381304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60-95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6512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Живые команды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457200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hello-world, nginx, логи, список контейнеров, cleanup.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68896" y="365760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333488" y="380390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33488" y="3813048"/>
            <a:ext cx="74980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95-120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5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Dockerfile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5" y="4572000"/>
            <a:ext cx="2606040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Первый образ, сборка, запуск и закрепление руками.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77840"/>
            <a:ext cx="9436608" cy="62179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724144"/>
            <a:ext cx="9052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7F4EA"/>
                </a:solidFill>
                <a:latin typeface="Aptos"/>
              </a:defRPr>
            </a:pPr>
            <a:r>
              <a:t>К концу занятия слушатель объясняет image vs container, запускает Nginx и собирает свой образ из Dockerfile.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Почему появилась контейнеризация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Проблема чаще всего не в коде, а в различиях окружения и зависимостей.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93776"/>
            <a:ext cx="3154680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502920"/>
            <a:ext cx="315468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Вопрос аудитории: где вы это уже видели?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3566160" cy="2468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1993392"/>
            <a:ext cx="146304" cy="213969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5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«У меня работает»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2395728"/>
            <a:ext cx="3072384" cy="1773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Разные версии ОС, интерпретатора, переменных окружения и библиотек делают запуск непредсказуемым.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28800"/>
            <a:ext cx="3566160" cy="2468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43984" y="1993392"/>
            <a:ext cx="146304" cy="213969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81728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Зависимости конфликтуют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395728"/>
            <a:ext cx="3072384" cy="1773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Одному проекту нужна одна версия пакета, другому - другая. Ручная настройка быстро становится хрупкой.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1828800"/>
            <a:ext cx="3566160" cy="2468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83296" y="1993392"/>
            <a:ext cx="146304" cy="213969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Релиз трудно повторить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95728"/>
            <a:ext cx="3072384" cy="1773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Тест, staging и production расходятся по конфигурации, и баги проявляются уже после выкладки.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983480"/>
            <a:ext cx="10844784" cy="86868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5230368"/>
            <a:ext cx="10287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F7F4EA"/>
                </a:solidFill>
                <a:latin typeface="Aptos"/>
              </a:defRPr>
            </a:pPr>
            <a:r>
              <a:t>Контейнер = стандартный способ упаковать приложение и его окружение так, чтобы запуск повторялся одинаково.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Сравнение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Контейнеры и виртуальные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Похожая цель, но разный уровень изоляции, скорости запуска и потребления ресурсов.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50" y="1920240"/>
            <a:ext cx="5394960" cy="3867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95644" y="1937633"/>
            <a:ext cx="5257800" cy="3867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54225" y="212140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rPr dirty="0" err="1"/>
              <a:t>Контейнеры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46587" y="212140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rPr dirty="0" err="1"/>
              <a:t>Виртуальные</a:t>
            </a:r>
            <a:r>
              <a:rPr dirty="0"/>
              <a:t> </a:t>
            </a:r>
            <a:r>
              <a:rPr dirty="0" err="1"/>
              <a:t>машины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1545158" y="2615184"/>
            <a:ext cx="1051560" cy="420624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33878" y="2615184"/>
            <a:ext cx="1051560" cy="420624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922598" y="2615184"/>
            <a:ext cx="1051560" cy="420624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45158" y="2715768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3878" y="2715768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2598" y="2715768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0566" y="3200400"/>
            <a:ext cx="3931920" cy="384048"/>
          </a:xfrm>
          <a:prstGeom prst="rect">
            <a:avLst/>
          </a:prstGeom>
          <a:solidFill>
            <a:srgbClr val="D9E7F3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80566" y="3273552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Host OS / Linux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58768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Делят ядро хостовой ОС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Запускаются быстро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Обычно легче по ресурсам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Удобны для CI/CD, dev и доставки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82841" y="2487884"/>
            <a:ext cx="1371600" cy="82296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37321" y="2487884"/>
            <a:ext cx="1371600" cy="82296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10857" y="2643153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VM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5337" y="2643153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VM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0857" y="2880897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900" b="0">
                <a:solidFill>
                  <a:srgbClr val="0D1B2A"/>
                </a:solidFill>
                <a:latin typeface="Aptos"/>
              </a:defRPr>
            </a:pPr>
            <a:r>
              <a:t>Guest 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5337" y="2880897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900" b="0">
                <a:solidFill>
                  <a:srgbClr val="0D1B2A"/>
                </a:solidFill>
                <a:latin typeface="Aptos"/>
              </a:defRPr>
            </a:pPr>
            <a:r>
              <a:t>Guest 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92386" y="3399777"/>
            <a:ext cx="3749039" cy="365760"/>
          </a:xfrm>
          <a:prstGeom prst="rect">
            <a:avLst/>
          </a:prstGeom>
          <a:solidFill>
            <a:srgbClr val="E9DFC8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92386" y="3463785"/>
            <a:ext cx="3749039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Hypervisor / virtualization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858768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У каждой VM свой guest OS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Старт обычно медленнее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Потребляют больше ресурсов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Изоляция сильнее, но цена выше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870448"/>
            <a:ext cx="10287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50" b="1">
                <a:solidFill>
                  <a:srgbClr val="6C7A89"/>
                </a:solidFill>
                <a:latin typeface="Aptos"/>
              </a:defRPr>
            </a:pPr>
            <a:r>
              <a:t>Важно: на Windows и macOS Linux-контейнеры в Docker Desktop работают внутри Linux VM.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Термины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Ключевые сущности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Четыре базовых понятия, без которых дальше будет трудно читать команды и понимать практику.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1947672"/>
            <a:ext cx="146304" cy="136245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1947672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50008"/>
            <a:ext cx="4581144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Шаблон с файловой системой и метаданными. Из одного образа можно запускать много контейнеров.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Команды: docker pull, docker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78308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63056" y="1947672"/>
            <a:ext cx="146304" cy="136245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947672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0008"/>
            <a:ext cx="4581144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Запущенный экземпляр образа. У него есть свой процесс и верхний writable layer.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Команда: docker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0332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3867911"/>
            <a:ext cx="146304" cy="136245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5" y="3867911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4270248"/>
            <a:ext cx="4581144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Удалённое хранилище образов: Docker Hub или private registry. Отсюда образы скачиваются и сюда публикуются.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370332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63056" y="3867911"/>
            <a:ext cx="146304" cy="136245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867911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Dockerfile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70248"/>
            <a:ext cx="4581144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Текстовое описание сборки образа. В нём задаются база, копирование файлов и команды сборки.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60720"/>
            <a:ext cx="10844784" cy="36576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824728"/>
            <a:ext cx="10469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E9DFC8"/>
                </a:solidFill>
                <a:latin typeface="Aptos"/>
              </a:defRPr>
            </a:pPr>
            <a:r>
              <a:t>CLI отдаёт команду -&gt; Engine управляет объектами -&gt; runtime запускает контейнер -&gt; registry хранит образы.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Схема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Архитектура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Полезно объяснять цепочку как путь команды от терминала до запущенного процесса.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331720"/>
            <a:ext cx="1645920" cy="105156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606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F7F4EA"/>
                </a:solidFill>
                <a:latin typeface="Bahnschrift"/>
              </a:defRPr>
            </a:pPr>
            <a:r>
              <a:t>Docker CLI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2615184"/>
            <a:ext cx="384048" cy="41148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0904" y="267004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1965960"/>
            <a:ext cx="2423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2212848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Docker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633472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dockerd слушает API-запросы и управляет image, container, network, volume.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615184"/>
            <a:ext cx="384048" cy="41148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25312" y="267004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956207"/>
            <a:ext cx="1325880" cy="73152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157375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containerd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956207"/>
            <a:ext cx="960120" cy="73152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28431" y="3157375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runc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791615"/>
            <a:ext cx="1828800" cy="1051560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3038503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Bahnschrift"/>
              </a:defRPr>
            </a:pPr>
            <a:r>
              <a:t>Container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1877215"/>
            <a:ext cx="19202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32520" y="1877215"/>
            <a:ext cx="2057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2078383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078383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Local images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4523592"/>
            <a:ext cx="4343400" cy="98755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22592" y="4752192"/>
            <a:ext cx="3840480" cy="4572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Aptos"/>
              </a:defRPr>
            </a:pPr>
            <a:r>
              <a:t>Runtime создаёт изолированный процесс, используя namespaces и cgroups.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572000"/>
            <a:ext cx="53492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791456"/>
            <a:ext cx="4937760" cy="38404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0D1B2A"/>
                </a:solidFill>
                <a:latin typeface="Aptos"/>
              </a:defRPr>
            </a:pPr>
            <a:r>
              <a:t>Проговорите цепочку вслух: команда в CLI -&gt; daemon -&gt; image/runtime -&gt; контейнер.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Роли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Engine и runtime: кто за что отвечает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4560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первом</a:t>
            </a:r>
            <a:r>
              <a:rPr dirty="0"/>
              <a:t> </a:t>
            </a:r>
            <a:r>
              <a:rPr dirty="0" err="1"/>
              <a:t>уроке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разделить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жизненным</a:t>
            </a:r>
            <a:r>
              <a:rPr dirty="0"/>
              <a:t> </a:t>
            </a:r>
            <a:r>
              <a:rPr dirty="0" err="1"/>
              <a:t>циклом</a:t>
            </a:r>
            <a:r>
              <a:rPr dirty="0"/>
              <a:t> и </a:t>
            </a:r>
            <a:r>
              <a:rPr dirty="0" err="1"/>
              <a:t>непосредственный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контейнера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737360"/>
            <a:ext cx="3108960" cy="548640"/>
          </a:xfrm>
          <a:prstGeom prst="roundRect">
            <a:avLst/>
          </a:prstGeom>
          <a:solidFill>
            <a:srgbClr val="F7C873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1775188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docker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468880"/>
            <a:ext cx="3108960" cy="54864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515674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dockerd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41248" y="3200400"/>
            <a:ext cx="3108960" cy="548640"/>
          </a:xfrm>
          <a:prstGeom prst="roundRect">
            <a:avLst/>
          </a:prstGeom>
          <a:solidFill>
            <a:srgbClr val="536B86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238229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containerd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841248" y="3931920"/>
            <a:ext cx="3108960" cy="548640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969749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runc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841248" y="4663440"/>
            <a:ext cx="3108960" cy="54864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1B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4710234"/>
            <a:ext cx="3108960" cy="438912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process in container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783080"/>
            <a:ext cx="6812280" cy="12344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18304" y="1947672"/>
            <a:ext cx="146304" cy="90525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56048" y="1947672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Container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2350008"/>
            <a:ext cx="6318504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Docker Engine управляет образами, контейнерами, сетями, томами и принимает команды через CLI/API.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182112"/>
            <a:ext cx="6812280" cy="12344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18304" y="3346704"/>
            <a:ext cx="146304" cy="90525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56048" y="3346704"/>
            <a:ext cx="6263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Container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3749039"/>
            <a:ext cx="6318504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Runtime запускает контейнер как изолированный процесс. В типичной схеме Docker использует containerd и runc.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645152"/>
            <a:ext cx="6812280" cy="1060704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9744" y="4864608"/>
            <a:ext cx="6355080" cy="47548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F7F4EA"/>
                </a:solidFill>
                <a:latin typeface="Aptos"/>
              </a:defRPr>
            </a:pPr>
            <a:r>
              <a:t>Короткая формула для группы: engine управляет, runtime запускает. Этого достаточно для первого занятия.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Linux основы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Изоляция через namespaces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767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rPr dirty="0" err="1"/>
              <a:t>Полезная</a:t>
            </a:r>
            <a:r>
              <a:rPr dirty="0"/>
              <a:t> </a:t>
            </a:r>
            <a:r>
              <a:rPr dirty="0" err="1"/>
              <a:t>метафора</a:t>
            </a:r>
            <a:r>
              <a:rPr dirty="0"/>
              <a:t>: </a:t>
            </a:r>
            <a:r>
              <a:rPr dirty="0" err="1"/>
              <a:t>контейнеру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мир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,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10844784" cy="64008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10332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F7F4EA"/>
                </a:solidFill>
                <a:latin typeface="Aptos"/>
              </a:defRPr>
            </a:pPr>
            <a:r>
              <a:t>namespaces отвечают на вопрос: что контейнер видит как своё окружение.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0604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59" y="277063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779776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83464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Своя таблица процессов.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Контейнер не видит весь host.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260604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078224" y="277063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78224" y="2779776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83464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Свои интерфейсы, IP,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маршруты и порты.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8896" y="260604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33488" y="277063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33488" y="2779776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MNT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283464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Своя точка зрения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на файловую систему.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16052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2959" y="432511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4334255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38912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Изоляция shared memory,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semaphores и message queues.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3632" y="416052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078224" y="432511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78224" y="4334255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38912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Свой hostname и domain name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внутри контейнера.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68896" y="416052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33488" y="432511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33488" y="4334255"/>
            <a:ext cx="530352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6" y="4389120"/>
            <a:ext cx="1874519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Отдельное отображение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UID/GID для безопасности.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742432"/>
            <a:ext cx="10844784" cy="36576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5815584"/>
            <a:ext cx="10287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0D1B2A"/>
                </a:solidFill>
                <a:latin typeface="Aptos"/>
              </a:defRPr>
            </a:pPr>
            <a:r>
              <a:t>Контейнер изолирует процесс, а не эмулирует целый компьютер.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Ресурсы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Контроль ресурсов через cgroups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2495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rPr dirty="0" err="1"/>
              <a:t>Если</a:t>
            </a:r>
            <a:r>
              <a:rPr dirty="0"/>
              <a:t> namespaces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изоляцию</a:t>
            </a:r>
            <a:r>
              <a:rPr dirty="0"/>
              <a:t>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cgroups</a:t>
            </a:r>
            <a:r>
              <a:rPr dirty="0"/>
              <a:t>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ограничения</a:t>
            </a:r>
            <a:r>
              <a:rPr dirty="0"/>
              <a:t> и </a:t>
            </a:r>
            <a:r>
              <a:rPr dirty="0" err="1"/>
              <a:t>учёт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3840480" cy="30632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029968"/>
            <a:ext cx="3291840" cy="1417320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0D1B2A"/>
                </a:solidFill>
                <a:latin typeface="Bahnschrift"/>
              </a:defRPr>
            </a:pPr>
            <a:r>
              <a:t>cgroups отвечают на вопрос: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0D1B2A"/>
                </a:solidFill>
                <a:latin typeface="Bahnschrift"/>
              </a:defRPr>
            </a:pPr>
            <a:r>
              <a:t>сколько CPU, памяти и процессов контейнер может использовать.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5074920"/>
            <a:ext cx="3840480" cy="77724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222657"/>
            <a:ext cx="3383280" cy="256032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7F4EA"/>
                </a:solidFill>
                <a:latin typeface="Aptos"/>
              </a:defRPr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ограничений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мешать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783080"/>
            <a:ext cx="6172200" cy="98755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66944" y="1947672"/>
            <a:ext cx="146304" cy="65836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4688" y="1947672"/>
            <a:ext cx="5623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206570"/>
            <a:ext cx="5678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доли</a:t>
            </a:r>
            <a:r>
              <a:rPr dirty="0"/>
              <a:t> </a:t>
            </a:r>
            <a:r>
              <a:rPr dirty="0" err="1"/>
              <a:t>процессора</a:t>
            </a:r>
            <a:r>
              <a:rPr dirty="0"/>
              <a:t>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фоновых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971800"/>
            <a:ext cx="6172200" cy="98755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66944" y="3136392"/>
            <a:ext cx="146304" cy="65836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04688" y="3136392"/>
            <a:ext cx="5623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395293"/>
            <a:ext cx="5678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Жёсткий</a:t>
            </a:r>
            <a:r>
              <a:rPr dirty="0"/>
              <a:t> </a:t>
            </a:r>
            <a:r>
              <a:rPr dirty="0" err="1"/>
              <a:t>предел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Защищает</a:t>
            </a:r>
            <a:r>
              <a:rPr dirty="0"/>
              <a:t> host </a:t>
            </a:r>
            <a:r>
              <a:rPr dirty="0" err="1"/>
              <a:t>от</a:t>
            </a:r>
            <a:r>
              <a:rPr dirty="0"/>
              <a:t> overuse.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160520"/>
            <a:ext cx="6172200" cy="98755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266944" y="4325112"/>
            <a:ext cx="146304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4688" y="4325112"/>
            <a:ext cx="5623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PIDs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4601939"/>
            <a:ext cx="5678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Ограничение</a:t>
            </a:r>
            <a:r>
              <a:rPr dirty="0"/>
              <a:t> </a:t>
            </a:r>
            <a:r>
              <a:rPr dirty="0" err="1"/>
              <a:t>числа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fork bomb.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5321808"/>
            <a:ext cx="6172200" cy="74980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85231" y="5468112"/>
            <a:ext cx="5843016" cy="475488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run --cpus=1 --memory=256m --pids-limit=100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Сборка образа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Dockerfile: описание образа шаг за шагом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0974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rPr dirty="0" err="1"/>
              <a:t>Dockerfile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сборку</a:t>
            </a:r>
            <a:r>
              <a:rPr dirty="0"/>
              <a:t> </a:t>
            </a:r>
            <a:r>
              <a:rPr dirty="0" err="1"/>
              <a:t>образа</a:t>
            </a:r>
            <a:r>
              <a:rPr dirty="0"/>
              <a:t>.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равен</a:t>
            </a:r>
            <a:r>
              <a:rPr dirty="0"/>
              <a:t> </a:t>
            </a:r>
            <a:r>
              <a:rPr dirty="0" err="1"/>
              <a:t>контейнеру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запущенного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91640"/>
            <a:ext cx="4663440" cy="429768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837944"/>
            <a:ext cx="4334255" cy="402336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FROM nginx:stable-alpine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COPY app/index.html /usr/share/nginx/html/index.html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EXPOSE 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73736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69864" y="1883664"/>
            <a:ext cx="676656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9864" y="1892807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3852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Выбирает базовый образ.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173736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77072" y="1883664"/>
            <a:ext cx="676656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77072" y="1892807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193852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Копирует файлы из контекста сборки.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278892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69864" y="2935224"/>
            <a:ext cx="676656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9864" y="2944368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9008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Выполняет команды во время build.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0768" y="278892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77072" y="2935224"/>
            <a:ext cx="676656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77072" y="2944368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99008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Задаёт рабочую директорию.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384048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769864" y="3986784"/>
            <a:ext cx="676656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9864" y="3995928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EXPOSE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04164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Документирует порт контейнера.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0768" y="384048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577072" y="3986784"/>
            <a:ext cx="676656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77072" y="3995928"/>
            <a:ext cx="676656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CMD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404164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Задаёт команду по умолчанию.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5029200"/>
            <a:ext cx="5321808" cy="96012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70448" y="5276088"/>
            <a:ext cx="4800600" cy="4114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7F4EA"/>
                </a:solidFill>
                <a:latin typeface="Aptos"/>
              </a:defRPr>
            </a:pPr>
            <a:r>
              <a:t>Точка в конце docker build -t lesson-site:1.0 . означает текущий контекст сборки.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Живая демонстрация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Демо 1: первый контейнер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36635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rPr dirty="0" err="1"/>
              <a:t>Самый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показать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скачать</a:t>
            </a:r>
            <a:r>
              <a:rPr dirty="0"/>
              <a:t> и </a:t>
            </a:r>
            <a:r>
              <a:rPr dirty="0" err="1"/>
              <a:t>выполнить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4892040" cy="324612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837944"/>
            <a:ext cx="4562855" cy="29718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run hello-world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ps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ps -a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737360"/>
            <a:ext cx="5440680" cy="24231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35624" y="1901952"/>
            <a:ext cx="146304" cy="209397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Что объяснить студентам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04288"/>
            <a:ext cx="4946904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Образ может скачаться автоматически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Контейнер может завершиться сразу после своей команды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docker ps показывает активные контейнеры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docker ps -a показывает все контейнеры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257800"/>
            <a:ext cx="4892040" cy="65836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386890"/>
            <a:ext cx="448056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F7F4EA"/>
                </a:solidFill>
                <a:latin typeface="Aptos"/>
              </a:defRPr>
            </a:pPr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: container != image, а </a:t>
            </a:r>
            <a:r>
              <a:rPr dirty="0" err="1"/>
              <a:t>завершившийся</a:t>
            </a:r>
            <a:r>
              <a:rPr dirty="0"/>
              <a:t> container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пропадает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списка</a:t>
            </a:r>
            <a:r>
              <a:rPr dirty="0"/>
              <a:t> 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5257800"/>
            <a:ext cx="5440680" cy="658368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2784" y="5368960"/>
            <a:ext cx="489204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0D1B2A"/>
                </a:solidFill>
                <a:latin typeface="Aptos"/>
              </a:defRPr>
            </a:pPr>
            <a:r>
              <a:rPr dirty="0" err="1"/>
              <a:t>Вопрос</a:t>
            </a:r>
            <a:r>
              <a:rPr dirty="0"/>
              <a:t> </a:t>
            </a:r>
            <a:r>
              <a:rPr dirty="0" err="1"/>
              <a:t>аудитории</a:t>
            </a:r>
            <a:r>
              <a:rPr dirty="0"/>
              <a:t>: </a:t>
            </a:r>
            <a:r>
              <a:rPr dirty="0" err="1"/>
              <a:t>почему</a:t>
            </a:r>
            <a:r>
              <a:rPr dirty="0"/>
              <a:t> hello-world </a:t>
            </a:r>
            <a:r>
              <a:rPr dirty="0" err="1"/>
              <a:t>завершился</a:t>
            </a:r>
            <a:r>
              <a:rPr dirty="0"/>
              <a:t>, а </a:t>
            </a:r>
            <a:r>
              <a:rPr dirty="0" err="1"/>
              <a:t>nginx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дальше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Живая демонстрация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Демо 2: веб-контейнер на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Здесь удобно показать долгоживущий контейнер, проброс порта и работу логов.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4754880" cy="345643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929384"/>
            <a:ext cx="4425696" cy="318211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run -d --name demo-nginx \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  -p 8080:80 nginx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ps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logs demo-nginx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stop demo-nginx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rm demo-nginx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802800"/>
            <a:ext cx="512064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3308" y="1793301"/>
            <a:ext cx="5120640" cy="420624"/>
          </a:xfrm>
          <a:prstGeom prst="round2SameRect">
            <a:avLst>
              <a:gd name="adj1" fmla="val 35848"/>
              <a:gd name="adj2" fmla="val 0"/>
            </a:avLst>
          </a:prstGeom>
          <a:solidFill>
            <a:srgbClr val="EEF3F7"/>
          </a:solidFill>
          <a:ln w="15240">
            <a:noFill/>
          </a:ln>
          <a:effectLst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5989320" y="1910379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17336" y="1910379"/>
            <a:ext cx="100584" cy="100584"/>
          </a:xfrm>
          <a:prstGeom prst="ellipse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45352" y="1910379"/>
            <a:ext cx="100584" cy="1005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56248" y="1892091"/>
            <a:ext cx="4206240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7688" y="1910379"/>
            <a:ext cx="402335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000" b="0">
                <a:solidFill>
                  <a:srgbClr val="6C7A89"/>
                </a:solidFill>
                <a:latin typeface="Aptos"/>
              </a:defRPr>
            </a:pPr>
            <a:r>
              <a:rPr dirty="0"/>
              <a:t>http://localhost:8080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4480559" cy="6400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0D1B2A"/>
                </a:solidFill>
                <a:latin typeface="Bahnschrift"/>
              </a:defRPr>
            </a:pPr>
            <a:r>
              <a:t>Nginx отвечает на localhost:8080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023360"/>
            <a:ext cx="2651759" cy="53035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4133087"/>
            <a:ext cx="24688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Контейнер запущен и отвечает по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13248"/>
            <a:ext cx="4754880" cy="566928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59552"/>
            <a:ext cx="4389120" cy="18288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50" b="0">
                <a:solidFill>
                  <a:srgbClr val="F7F4EA"/>
                </a:solidFill>
                <a:latin typeface="Aptos"/>
              </a:defRPr>
            </a:pPr>
            <a:r>
              <a:t>Отдельно проговорите флаг -d: контейнер работает в фоне.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5230368"/>
            <a:ext cx="51206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44768" y="5413248"/>
            <a:ext cx="4617720" cy="420624"/>
          </a:xfrm>
          <a:prstGeom prst="rect">
            <a:avLst/>
          </a:prstGeom>
          <a:noFill/>
        </p:spPr>
        <p:txBody>
          <a:bodyPr wrap="square" lIns="101600" tIns="76200" rIns="101600" bIns="7620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50" b="1">
                <a:solidFill>
                  <a:srgbClr val="0D1B2A"/>
                </a:solidFill>
                <a:latin typeface="Aptos"/>
              </a:defRPr>
            </a:pPr>
            <a:r>
              <a:t>Проверьте у группы: зачем нужен docker logs,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  <a:defRPr sz="1050" b="1">
                <a:solidFill>
                  <a:srgbClr val="0D1B2A"/>
                </a:solidFill>
                <a:latin typeface="Aptos"/>
              </a:defRPr>
            </a:pPr>
            <a:r>
              <a:t>если страница уже открывается в браузере?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Практика: собираем свой образ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Финальная часть урока: слушатели создают свою страницу, собирают образ и запускают контейнер.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93392"/>
            <a:ext cx="2971800" cy="10515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2688" y="2157984"/>
            <a:ext cx="420624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420624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15798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0D1B2A"/>
                </a:solidFill>
                <a:latin typeface="Bahnschrift"/>
              </a:defRPr>
            </a:pPr>
            <a:r>
              <a:t>Создать файлы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77534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rPr dirty="0"/>
              <a:t>index.html, </a:t>
            </a:r>
            <a:r>
              <a:rPr dirty="0" err="1"/>
              <a:t>Dockerfile</a:t>
            </a:r>
            <a:r>
              <a:rPr dirty="0"/>
              <a:t> и </a:t>
            </a:r>
            <a:r>
              <a:rPr dirty="0" err="1"/>
              <a:t>папку</a:t>
            </a:r>
            <a:r>
              <a:rPr dirty="0"/>
              <a:t>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1993392"/>
            <a:ext cx="2971800" cy="10515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87952" y="2157984"/>
            <a:ext cx="420624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87952" y="2167128"/>
            <a:ext cx="420624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15798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0D1B2A"/>
                </a:solidFill>
                <a:latin typeface="Bahnschrift"/>
              </a:defRPr>
            </a:pPr>
            <a:r>
              <a:t>Собрать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2577534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rPr dirty="0"/>
              <a:t>docker build -t lesson-site:1.0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1993392"/>
            <a:ext cx="2971800" cy="10515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43216" y="2157984"/>
            <a:ext cx="420624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43216" y="2167128"/>
            <a:ext cx="420624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215798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0D1B2A"/>
                </a:solidFill>
                <a:latin typeface="Bahnschrift"/>
              </a:defRPr>
            </a:pPr>
            <a:r>
              <a:t>Запустить container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577534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rPr dirty="0"/>
              <a:t>docker run -d -p 8080:80 lesson-site:1.0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154680"/>
            <a:ext cx="4160520" cy="290779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328416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0D1B2A"/>
                </a:solidFill>
                <a:latin typeface="Bahnschrift"/>
              </a:defRPr>
            </a:pPr>
            <a:r>
              <a:t>Структура практики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" y="3657600"/>
            <a:ext cx="3794760" cy="118872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3803904"/>
            <a:ext cx="3465576" cy="914400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docker-lesson-1/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  app/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    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  Dockerfile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4956048"/>
            <a:ext cx="3794760" cy="98755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5102352"/>
            <a:ext cx="3465576" cy="713232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980" b="0">
                <a:solidFill>
                  <a:srgbClr val="F7F4EA"/>
                </a:solidFill>
                <a:latin typeface="Consolas"/>
              </a:defRPr>
            </a:pPr>
            <a:r>
              <a:t>FROM nginx:stable-alpine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980" b="0">
                <a:solidFill>
                  <a:srgbClr val="F7F4EA"/>
                </a:solidFill>
                <a:latin typeface="Consolas"/>
              </a:defRPr>
            </a:pPr>
            <a:r>
              <a:t>COPY app/index.html /usr/share/nginx/html/index.html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980" b="0">
                <a:solidFill>
                  <a:srgbClr val="F7F4EA"/>
                </a:solidFill>
                <a:latin typeface="Consolas"/>
              </a:defRPr>
            </a:pPr>
            <a:r>
              <a:t>EXPOSE 80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3154680"/>
            <a:ext cx="6126480" cy="290779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13248" y="3328416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0D1B2A"/>
                </a:solidFill>
                <a:latin typeface="Bahnschrift"/>
              </a:defRPr>
            </a:pPr>
            <a:r>
              <a:t>Команды и результат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13248" y="3657600"/>
            <a:ext cx="5486400" cy="107899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0" y="3803904"/>
            <a:ext cx="5157216" cy="804671"/>
          </a:xfrm>
          <a:prstGeom prst="rect">
            <a:avLst/>
          </a:prstGeom>
          <a:noFill/>
        </p:spPr>
        <p:txBody>
          <a:bodyPr wrap="square" lIns="50800" tIns="50800" rIns="50800" bIns="508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docker build -t lesson-site:1.0 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docker run -d --name lesson-site -p 8080:80 lesson-site:1.0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13248" y="4882896"/>
            <a:ext cx="548640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50992" y="4992624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930" b="1">
                <a:solidFill>
                  <a:srgbClr val="2A9D8F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5175504"/>
            <a:ext cx="4800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0D1B2A"/>
                </a:solidFill>
                <a:latin typeface="Aptos"/>
              </a:defRPr>
            </a:pPr>
            <a:r>
              <a:t>Открывается своя страница на http://localhost:8080.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5413248"/>
            <a:ext cx="4800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919" b="0">
                <a:solidFill>
                  <a:srgbClr val="6C7A89"/>
                </a:solidFill>
                <a:latin typeface="Aptos"/>
              </a:defRPr>
            </a:pPr>
            <a:r>
              <a:t>После изменения index.html образ нужно пересобрать.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После урока слушатель умеет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8146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rPr dirty="0" err="1"/>
              <a:t>Этим</a:t>
            </a:r>
            <a:r>
              <a:rPr dirty="0"/>
              <a:t> </a:t>
            </a:r>
            <a:r>
              <a:rPr dirty="0" err="1"/>
              <a:t>слайдом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завершить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рассказ</a:t>
            </a:r>
            <a:r>
              <a:rPr dirty="0"/>
              <a:t> и </a:t>
            </a:r>
            <a:r>
              <a:rPr dirty="0" err="1"/>
              <a:t>зафиксировать</a:t>
            </a:r>
            <a:r>
              <a:rPr dirty="0"/>
              <a:t> </a:t>
            </a:r>
            <a:r>
              <a:rPr dirty="0" err="1"/>
              <a:t>получившиеся</a:t>
            </a:r>
            <a:r>
              <a:rPr dirty="0"/>
              <a:t> </a:t>
            </a:r>
            <a:r>
              <a:rPr dirty="0" err="1"/>
              <a:t>навыки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59" y="1947672"/>
            <a:ext cx="84124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1956815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Объяснить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0487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что такое контейнеризация и зачем она нужна.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3632" y="178308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078224" y="1947672"/>
            <a:ext cx="841248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78224" y="1956815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Различать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40487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image, container, registry и Dockerfile.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68896" y="178308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33488" y="1947672"/>
            <a:ext cx="841248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33488" y="1956815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Описать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4" y="240487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роль CLI, daemon, Engine и runtime.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290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59" y="3593592"/>
            <a:ext cx="841248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3602736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Понимать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050791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бытовую идею namespaces и cgroups.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3632" y="34290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78224" y="3593592"/>
            <a:ext cx="84124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78224" y="3602736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Запускать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050791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готовый контейнер и смотреть его логи.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68896" y="34290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33488" y="3593592"/>
            <a:ext cx="841248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33488" y="3602736"/>
            <a:ext cx="841248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Собирать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4" y="4050791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свой образ через docker build.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321808"/>
            <a:ext cx="10844784" cy="658368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513832"/>
            <a:ext cx="10241280" cy="22860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7F4EA"/>
                </a:solidFill>
                <a:latin typeface="Aptos"/>
              </a:defRPr>
            </a:pPr>
            <a:r>
              <a:t>Типичные ошибки новичка: путать image и container, забывать проброс порта, менять файлы без пересборки образа.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Финиш урока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Проверка понимания и домашнее задание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lIns="101600" tIns="76200" rIns="101600" bIns="762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Финал урока: быстро проверить понимание, а затем дать маленький законченный практический кейс.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5074920" cy="39319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074920" cy="39319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084831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Контрольные вопросы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45262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1. Что такое контейнеризация и какую проблему она решает?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2. Чем container отличается от image?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3. Какую роль играют namespaces?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4. Для чего нужны cgroups?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5. Что описывает Dockerfile?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6. Что произойдёт после docker build?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084831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Домашнее задание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450592"/>
            <a:ext cx="45262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1. Создать свою HTML-страницу.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2. Написать Dockerfile на базе nginx.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3. Собрать образ и запустить контейнер на локальном порту.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4. Подготовить скриншот страницы и текст Dockerfile.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5. По желанию: сменить тег образа и имя контейнера.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149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950" b="0">
                <a:solidFill>
                  <a:srgbClr val="E9DFC8"/>
                </a:solidFill>
                <a:latin typeface="Aptos"/>
              </a:defRPr>
            </a:pPr>
            <a:r>
              <a:t>Следующий урок: Docker volumes, Networks in Docker, инспекция Docker и логирование, multi-stage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1478</Words>
  <Application>Microsoft Office PowerPoint</Application>
  <PresentationFormat>Широкоэкранный</PresentationFormat>
  <Paragraphs>279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Aptos</vt:lpstr>
      <vt:lpstr>Arial</vt:lpstr>
      <vt:lpstr>Bahnschrift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struzkinaa@outlook.com</cp:lastModifiedBy>
  <cp:revision>3</cp:revision>
  <dcterms:created xsi:type="dcterms:W3CDTF">2013-01-27T09:14:16Z</dcterms:created>
  <dcterms:modified xsi:type="dcterms:W3CDTF">2026-03-20T18:14:17Z</dcterms:modified>
  <cp:category/>
</cp:coreProperties>
</file>